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7620000" cy="33337500"/>
  <p:notesSz cx="6858000" cy="9144000"/>
  <p:embeddedFontLst>
    <p:embeddedFont>
      <p:font typeface="Rubik One" charset="1" panose="02000604000000020004"/>
      <p:regular r:id="rId15"/>
    </p:embeddedFont>
    <p:embeddedFont>
      <p:font typeface="Rubik Bold" charset="1" panose="00000800000000000000"/>
      <p:regular r:id="rId16"/>
    </p:embeddedFont>
    <p:embeddedFont>
      <p:font typeface="Rubik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33357" y="11906250"/>
            <a:ext cx="686643" cy="686643"/>
          </a:xfrm>
          <a:custGeom>
            <a:avLst/>
            <a:gdLst/>
            <a:ahLst/>
            <a:cxnLst/>
            <a:rect r="r" b="b" t="t" l="l"/>
            <a:pathLst>
              <a:path h="686643" w="686643">
                <a:moveTo>
                  <a:pt x="0" y="0"/>
                </a:moveTo>
                <a:lnTo>
                  <a:pt x="686643" y="0"/>
                </a:lnTo>
                <a:lnTo>
                  <a:pt x="686643" y="686643"/>
                </a:lnTo>
                <a:lnTo>
                  <a:pt x="0" y="686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4426" y="13567950"/>
            <a:ext cx="2286000" cy="582805"/>
            <a:chOff x="0" y="0"/>
            <a:chExt cx="812800" cy="2072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07219"/>
            </a:xfrm>
            <a:custGeom>
              <a:avLst/>
              <a:gdLst/>
              <a:ahLst/>
              <a:cxnLst/>
              <a:rect r="r" b="b" t="t" l="l"/>
              <a:pathLst>
                <a:path h="207219" w="812800">
                  <a:moveTo>
                    <a:pt x="103610" y="0"/>
                  </a:moveTo>
                  <a:lnTo>
                    <a:pt x="709190" y="0"/>
                  </a:lnTo>
                  <a:cubicBezTo>
                    <a:pt x="766412" y="0"/>
                    <a:pt x="812800" y="46388"/>
                    <a:pt x="812800" y="103610"/>
                  </a:cubicBezTo>
                  <a:lnTo>
                    <a:pt x="812800" y="103610"/>
                  </a:lnTo>
                  <a:cubicBezTo>
                    <a:pt x="812800" y="160832"/>
                    <a:pt x="766412" y="207219"/>
                    <a:pt x="709190" y="207219"/>
                  </a:cubicBezTo>
                  <a:lnTo>
                    <a:pt x="103610" y="207219"/>
                  </a:lnTo>
                  <a:cubicBezTo>
                    <a:pt x="46388" y="207219"/>
                    <a:pt x="0" y="160832"/>
                    <a:pt x="0" y="103610"/>
                  </a:cubicBezTo>
                  <a:lnTo>
                    <a:pt x="0" y="103610"/>
                  </a:lnTo>
                  <a:cubicBezTo>
                    <a:pt x="0" y="46388"/>
                    <a:pt x="46388" y="0"/>
                    <a:pt x="103610" y="0"/>
                  </a:cubicBezTo>
                  <a:close/>
                </a:path>
              </a:pathLst>
            </a:custGeom>
            <a:solidFill>
              <a:srgbClr val="A84B0F"/>
            </a:solidFill>
            <a:ln w="38100" cap="rnd">
              <a:solidFill>
                <a:srgbClr val="E4691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812800" cy="283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372129">
            <a:off x="3691450" y="13774132"/>
            <a:ext cx="355546" cy="484561"/>
          </a:xfrm>
          <a:custGeom>
            <a:avLst/>
            <a:gdLst/>
            <a:ahLst/>
            <a:cxnLst/>
            <a:rect r="r" b="b" t="t" l="l"/>
            <a:pathLst>
              <a:path h="484561" w="355546">
                <a:moveTo>
                  <a:pt x="0" y="0"/>
                </a:moveTo>
                <a:lnTo>
                  <a:pt x="355546" y="0"/>
                </a:lnTo>
                <a:lnTo>
                  <a:pt x="355546" y="484561"/>
                </a:lnTo>
                <a:lnTo>
                  <a:pt x="0" y="4845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303194" y="15427434"/>
            <a:ext cx="2720787" cy="1966514"/>
            <a:chOff x="0" y="0"/>
            <a:chExt cx="967391" cy="699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7391" cy="699205"/>
            </a:xfrm>
            <a:custGeom>
              <a:avLst/>
              <a:gdLst/>
              <a:ahLst/>
              <a:cxnLst/>
              <a:rect r="r" b="b" t="t" l="l"/>
              <a:pathLst>
                <a:path h="699205" w="967391">
                  <a:moveTo>
                    <a:pt x="108128" y="0"/>
                  </a:moveTo>
                  <a:lnTo>
                    <a:pt x="859263" y="0"/>
                  </a:lnTo>
                  <a:cubicBezTo>
                    <a:pt x="918981" y="0"/>
                    <a:pt x="967391" y="48410"/>
                    <a:pt x="967391" y="108128"/>
                  </a:cubicBezTo>
                  <a:lnTo>
                    <a:pt x="967391" y="591077"/>
                  </a:lnTo>
                  <a:cubicBezTo>
                    <a:pt x="967391" y="650795"/>
                    <a:pt x="918981" y="699205"/>
                    <a:pt x="859263" y="699205"/>
                  </a:cubicBezTo>
                  <a:lnTo>
                    <a:pt x="108128" y="699205"/>
                  </a:lnTo>
                  <a:cubicBezTo>
                    <a:pt x="48410" y="699205"/>
                    <a:pt x="0" y="650795"/>
                    <a:pt x="0" y="591077"/>
                  </a:cubicBezTo>
                  <a:lnTo>
                    <a:pt x="0" y="108128"/>
                  </a:lnTo>
                  <a:cubicBezTo>
                    <a:pt x="0" y="48410"/>
                    <a:pt x="48410" y="0"/>
                    <a:pt x="108128" y="0"/>
                  </a:cubicBezTo>
                  <a:close/>
                </a:path>
              </a:pathLst>
            </a:custGeom>
            <a:ln w="28575" cap="rnd">
              <a:solidFill>
                <a:srgbClr val="E46919"/>
              </a:solidFill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67391" cy="756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99609" y="17174904"/>
            <a:ext cx="927956" cy="387084"/>
            <a:chOff x="0" y="0"/>
            <a:chExt cx="329940" cy="137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940" cy="137630"/>
            </a:xfrm>
            <a:custGeom>
              <a:avLst/>
              <a:gdLst/>
              <a:ahLst/>
              <a:cxnLst/>
              <a:rect r="r" b="b" t="t" l="l"/>
              <a:pathLst>
                <a:path h="137630" w="329940">
                  <a:moveTo>
                    <a:pt x="68815" y="0"/>
                  </a:moveTo>
                  <a:lnTo>
                    <a:pt x="261125" y="0"/>
                  </a:lnTo>
                  <a:cubicBezTo>
                    <a:pt x="299130" y="0"/>
                    <a:pt x="329940" y="30809"/>
                    <a:pt x="329940" y="68815"/>
                  </a:cubicBezTo>
                  <a:lnTo>
                    <a:pt x="329940" y="68815"/>
                  </a:lnTo>
                  <a:cubicBezTo>
                    <a:pt x="329940" y="106820"/>
                    <a:pt x="299130" y="137630"/>
                    <a:pt x="261125" y="137630"/>
                  </a:cubicBezTo>
                  <a:lnTo>
                    <a:pt x="68815" y="137630"/>
                  </a:lnTo>
                  <a:cubicBezTo>
                    <a:pt x="30809" y="137630"/>
                    <a:pt x="0" y="106820"/>
                    <a:pt x="0" y="68815"/>
                  </a:cubicBezTo>
                  <a:lnTo>
                    <a:pt x="0" y="68815"/>
                  </a:lnTo>
                  <a:cubicBezTo>
                    <a:pt x="0" y="30809"/>
                    <a:pt x="30809" y="0"/>
                    <a:pt x="68815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29940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80"/>
                </a:lnSpc>
              </a:pPr>
              <a:r>
                <a:rPr lang="he-IL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  <a:rtl val="true"/>
                </a:rPr>
                <a:t>הכלים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95988" y="15427434"/>
            <a:ext cx="2861644" cy="1966514"/>
            <a:chOff x="0" y="0"/>
            <a:chExt cx="1017474" cy="6992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7474" cy="699205"/>
            </a:xfrm>
            <a:custGeom>
              <a:avLst/>
              <a:gdLst/>
              <a:ahLst/>
              <a:cxnLst/>
              <a:rect r="r" b="b" t="t" l="l"/>
              <a:pathLst>
                <a:path h="699205" w="1017474">
                  <a:moveTo>
                    <a:pt x="102806" y="0"/>
                  </a:moveTo>
                  <a:lnTo>
                    <a:pt x="914668" y="0"/>
                  </a:lnTo>
                  <a:cubicBezTo>
                    <a:pt x="971446" y="0"/>
                    <a:pt x="1017474" y="46028"/>
                    <a:pt x="1017474" y="102806"/>
                  </a:cubicBezTo>
                  <a:lnTo>
                    <a:pt x="1017474" y="596399"/>
                  </a:lnTo>
                  <a:cubicBezTo>
                    <a:pt x="1017474" y="653177"/>
                    <a:pt x="971446" y="699205"/>
                    <a:pt x="914668" y="699205"/>
                  </a:cubicBezTo>
                  <a:lnTo>
                    <a:pt x="102806" y="699205"/>
                  </a:lnTo>
                  <a:cubicBezTo>
                    <a:pt x="46028" y="699205"/>
                    <a:pt x="0" y="653177"/>
                    <a:pt x="0" y="596399"/>
                  </a:cubicBezTo>
                  <a:lnTo>
                    <a:pt x="0" y="102806"/>
                  </a:lnTo>
                  <a:cubicBezTo>
                    <a:pt x="0" y="46028"/>
                    <a:pt x="46028" y="0"/>
                    <a:pt x="102806" y="0"/>
                  </a:cubicBezTo>
                  <a:close/>
                </a:path>
              </a:pathLst>
            </a:custGeom>
            <a:ln w="28575" cap="rnd">
              <a:solidFill>
                <a:srgbClr val="E46919"/>
              </a:solidFill>
              <a:prstDash val="sysDot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17474" cy="756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3097" y="17174904"/>
            <a:ext cx="1247427" cy="387084"/>
            <a:chOff x="0" y="0"/>
            <a:chExt cx="443530" cy="1376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3530" cy="137630"/>
            </a:xfrm>
            <a:custGeom>
              <a:avLst/>
              <a:gdLst/>
              <a:ahLst/>
              <a:cxnLst/>
              <a:rect r="r" b="b" t="t" l="l"/>
              <a:pathLst>
                <a:path h="137630" w="443530">
                  <a:moveTo>
                    <a:pt x="68815" y="0"/>
                  </a:moveTo>
                  <a:lnTo>
                    <a:pt x="374715" y="0"/>
                  </a:lnTo>
                  <a:cubicBezTo>
                    <a:pt x="412720" y="0"/>
                    <a:pt x="443530" y="30809"/>
                    <a:pt x="443530" y="68815"/>
                  </a:cubicBezTo>
                  <a:lnTo>
                    <a:pt x="443530" y="68815"/>
                  </a:lnTo>
                  <a:cubicBezTo>
                    <a:pt x="443530" y="106820"/>
                    <a:pt x="412720" y="137630"/>
                    <a:pt x="374715" y="137630"/>
                  </a:cubicBezTo>
                  <a:lnTo>
                    <a:pt x="68815" y="137630"/>
                  </a:lnTo>
                  <a:cubicBezTo>
                    <a:pt x="30809" y="137630"/>
                    <a:pt x="0" y="106820"/>
                    <a:pt x="0" y="68815"/>
                  </a:cubicBezTo>
                  <a:lnTo>
                    <a:pt x="0" y="68815"/>
                  </a:lnTo>
                  <a:cubicBezTo>
                    <a:pt x="0" y="30809"/>
                    <a:pt x="30809" y="0"/>
                    <a:pt x="68815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43530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80"/>
                </a:lnSpc>
              </a:pPr>
              <a:r>
                <a:rPr lang="he-IL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  <a:rtl val="true"/>
                </a:rPr>
                <a:t>מודלי ה-</a:t>
              </a: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AI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532453" y="15588536"/>
            <a:ext cx="520225" cy="520225"/>
          </a:xfrm>
          <a:custGeom>
            <a:avLst/>
            <a:gdLst/>
            <a:ahLst/>
            <a:cxnLst/>
            <a:rect r="r" b="b" t="t" l="l"/>
            <a:pathLst>
              <a:path h="520225" w="520225">
                <a:moveTo>
                  <a:pt x="0" y="0"/>
                </a:moveTo>
                <a:lnTo>
                  <a:pt x="520225" y="0"/>
                </a:lnTo>
                <a:lnTo>
                  <a:pt x="520225" y="520225"/>
                </a:lnTo>
                <a:lnTo>
                  <a:pt x="0" y="520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61850" y="15517498"/>
            <a:ext cx="676856" cy="676856"/>
          </a:xfrm>
          <a:custGeom>
            <a:avLst/>
            <a:gdLst/>
            <a:ahLst/>
            <a:cxnLst/>
            <a:rect r="r" b="b" t="t" l="l"/>
            <a:pathLst>
              <a:path h="676856" w="676856">
                <a:moveTo>
                  <a:pt x="0" y="0"/>
                </a:moveTo>
                <a:lnTo>
                  <a:pt x="676856" y="0"/>
                </a:lnTo>
                <a:lnTo>
                  <a:pt x="676856" y="676856"/>
                </a:lnTo>
                <a:lnTo>
                  <a:pt x="0" y="676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55418" y="16403561"/>
            <a:ext cx="489721" cy="489721"/>
          </a:xfrm>
          <a:custGeom>
            <a:avLst/>
            <a:gdLst/>
            <a:ahLst/>
            <a:cxnLst/>
            <a:rect r="r" b="b" t="t" l="l"/>
            <a:pathLst>
              <a:path h="489721" w="489721">
                <a:moveTo>
                  <a:pt x="0" y="0"/>
                </a:moveTo>
                <a:lnTo>
                  <a:pt x="489720" y="0"/>
                </a:lnTo>
                <a:lnTo>
                  <a:pt x="489720" y="489720"/>
                </a:lnTo>
                <a:lnTo>
                  <a:pt x="0" y="489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518534" y="16412942"/>
            <a:ext cx="548063" cy="548063"/>
          </a:xfrm>
          <a:custGeom>
            <a:avLst/>
            <a:gdLst/>
            <a:ahLst/>
            <a:cxnLst/>
            <a:rect r="r" b="b" t="t" l="l"/>
            <a:pathLst>
              <a:path h="548063" w="548063">
                <a:moveTo>
                  <a:pt x="0" y="0"/>
                </a:moveTo>
                <a:lnTo>
                  <a:pt x="548063" y="0"/>
                </a:lnTo>
                <a:lnTo>
                  <a:pt x="548063" y="548063"/>
                </a:lnTo>
                <a:lnTo>
                  <a:pt x="0" y="5480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644661" y="15867400"/>
            <a:ext cx="2037852" cy="829098"/>
            <a:chOff x="0" y="0"/>
            <a:chExt cx="2717136" cy="1105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45274" y="180784"/>
              <a:ext cx="668988" cy="668988"/>
            </a:xfrm>
            <a:custGeom>
              <a:avLst/>
              <a:gdLst/>
              <a:ahLst/>
              <a:cxnLst/>
              <a:rect r="r" b="b" t="t" l="l"/>
              <a:pathLst>
                <a:path h="668988" w="668988">
                  <a:moveTo>
                    <a:pt x="0" y="0"/>
                  </a:moveTo>
                  <a:lnTo>
                    <a:pt x="668988" y="0"/>
                  </a:lnTo>
                  <a:lnTo>
                    <a:pt x="668988" y="668988"/>
                  </a:lnTo>
                  <a:lnTo>
                    <a:pt x="0" y="668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86581" y="0"/>
              <a:ext cx="1030555" cy="1030555"/>
            </a:xfrm>
            <a:custGeom>
              <a:avLst/>
              <a:gdLst/>
              <a:ahLst/>
              <a:cxnLst/>
              <a:rect r="r" b="b" t="t" l="l"/>
              <a:pathLst>
                <a:path h="1030555" w="1030555">
                  <a:moveTo>
                    <a:pt x="0" y="0"/>
                  </a:moveTo>
                  <a:lnTo>
                    <a:pt x="1030555" y="0"/>
                  </a:lnTo>
                  <a:lnTo>
                    <a:pt x="1030555" y="1030555"/>
                  </a:lnTo>
                  <a:lnTo>
                    <a:pt x="0" y="1030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766222" y="840247"/>
              <a:ext cx="871273" cy="26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6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Roo Code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840247"/>
              <a:ext cx="1159536" cy="26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6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00000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Claude Code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066341" y="12085280"/>
            <a:ext cx="3487317" cy="36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60"/>
              </a:lnSpc>
              <a:spcBef>
                <a:spcPct val="0"/>
              </a:spcBef>
            </a:pPr>
            <a:r>
              <a:rPr lang="he-IL" sz="1912">
                <a:solidFill>
                  <a:srgbClr val="E46919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צוות קרמל ומרכז שדות מציגים: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6545" y="12380006"/>
            <a:ext cx="4646910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A84B0F"/>
                </a:solidFill>
                <a:latin typeface="Rubik One"/>
                <a:ea typeface="Rubik One"/>
                <a:cs typeface="Rubik One"/>
                <a:sym typeface="Rubik One"/>
              </a:rPr>
              <a:t>AI Coding Assistants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50013" y="13628357"/>
            <a:ext cx="2350145" cy="33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973"/>
              </a:lnSpc>
              <a:spcBef>
                <a:spcPct val="0"/>
              </a:spcBef>
            </a:pPr>
            <a:r>
              <a:rPr lang="he-IL" sz="1858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בקצרה, כאן מתקינים: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72571" y="13571207"/>
            <a:ext cx="1638796" cy="48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1"/>
              </a:lnSpc>
              <a:spcBef>
                <a:spcPct val="0"/>
              </a:spcBef>
            </a:pPr>
            <a:r>
              <a:rPr lang="en-US" sz="2544">
                <a:solidFill>
                  <a:srgbClr val="FFFFFF"/>
                </a:solidFill>
                <a:latin typeface="Rubik One"/>
                <a:ea typeface="Rubik One"/>
                <a:cs typeface="Rubik One"/>
                <a:sym typeface="Rubik One"/>
              </a:rPr>
              <a:t>Karamel/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4774" y="14817501"/>
            <a:ext cx="6611304" cy="33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973"/>
              </a:lnSpc>
              <a:spcBef>
                <a:spcPct val="0"/>
              </a:spcBef>
            </a:pPr>
            <a:r>
              <a:rPr lang="he-IL" sz="1858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בארוכה, כל מה שאתם צריכים לדעת, מהתקנה ועד שימוש נכון: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446" y="17676287"/>
            <a:ext cx="7501554" cy="93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המודל הוא כמו המוח החכם מאחורי הקלעים, והכלי הוא כמו מנהל המשימות שלו.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כיוון שכל כלי מנהל את המשימות שלו אחרת, וכל מודל חושב אחרת, שילוב בין כלי למודל יתן תוצאה אחרת מכלי ומודל אחר.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28436" y="18806798"/>
            <a:ext cx="3363128" cy="33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973"/>
              </a:lnSpc>
              <a:spcBef>
                <a:spcPct val="0"/>
              </a:spcBef>
            </a:pPr>
            <a:r>
              <a:rPr lang="he-IL" sz="1858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אז איך לבחור מודל וכלי? תתנסו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19286872"/>
            <a:ext cx="7620000" cy="15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קצת על השוואת מודלים: לכל חברה יש כמה מודלים שמתמחים ביכולות שונות, מודלים שאתם אולי מכירים: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GPT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של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OpenAI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ג’ימיני של גוגל,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של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Anthropic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...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המודלים שאנחנו מכניסים לרשת הם מודלים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Open-Source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וכמובן שהמודלים בחוץ טובים יותר, אבל האמת שהמודלים בפנים נותנים פייט לא רע.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SWE-bench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זה המדד הכי מקובל לבדיקת איכות המודל בכתיבת קוד, והנה קצת השוואה: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01135" y="16859309"/>
            <a:ext cx="982861" cy="21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Minimax-M2.5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9210" y="16868834"/>
            <a:ext cx="1062137" cy="21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Kimi-K2.5-</a:t>
            </a:r>
            <a:r>
              <a:rPr lang="en-US" b="true" sz="1100" u="sng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BETA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33579" y="16065132"/>
            <a:ext cx="917972" cy="21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GLM-4.7-FP8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8496" y="16065132"/>
            <a:ext cx="1363563" cy="21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Qwen3-Coder-Next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5814" y="12037988"/>
            <a:ext cx="2293637" cy="1848791"/>
          </a:xfrm>
          <a:custGeom>
            <a:avLst/>
            <a:gdLst/>
            <a:ahLst/>
            <a:cxnLst/>
            <a:rect r="r" b="b" t="t" l="l"/>
            <a:pathLst>
              <a:path h="1848791" w="2293637">
                <a:moveTo>
                  <a:pt x="0" y="0"/>
                </a:moveTo>
                <a:lnTo>
                  <a:pt x="2293637" y="0"/>
                </a:lnTo>
                <a:lnTo>
                  <a:pt x="2293637" y="1848791"/>
                </a:lnTo>
                <a:lnTo>
                  <a:pt x="0" y="1848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788" y="14117293"/>
            <a:ext cx="2459688" cy="158924"/>
          </a:xfrm>
          <a:custGeom>
            <a:avLst/>
            <a:gdLst/>
            <a:ahLst/>
            <a:cxnLst/>
            <a:rect r="r" b="b" t="t" l="l"/>
            <a:pathLst>
              <a:path h="158924" w="2459688">
                <a:moveTo>
                  <a:pt x="0" y="0"/>
                </a:moveTo>
                <a:lnTo>
                  <a:pt x="2459688" y="0"/>
                </a:lnTo>
                <a:lnTo>
                  <a:pt x="2459688" y="158924"/>
                </a:lnTo>
                <a:lnTo>
                  <a:pt x="0" y="158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1441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51207" y="11906250"/>
            <a:ext cx="1855159" cy="1787254"/>
          </a:xfrm>
          <a:custGeom>
            <a:avLst/>
            <a:gdLst/>
            <a:ahLst/>
            <a:cxnLst/>
            <a:rect r="r" b="b" t="t" l="l"/>
            <a:pathLst>
              <a:path h="1787254" w="1855159">
                <a:moveTo>
                  <a:pt x="0" y="0"/>
                </a:moveTo>
                <a:lnTo>
                  <a:pt x="1855159" y="0"/>
                </a:lnTo>
                <a:lnTo>
                  <a:pt x="1855159" y="1787254"/>
                </a:lnTo>
                <a:lnTo>
                  <a:pt x="0" y="178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344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6671" y="13920269"/>
            <a:ext cx="2211923" cy="158924"/>
          </a:xfrm>
          <a:custGeom>
            <a:avLst/>
            <a:gdLst/>
            <a:ahLst/>
            <a:cxnLst/>
            <a:rect r="r" b="b" t="t" l="l"/>
            <a:pathLst>
              <a:path h="158924" w="2211923">
                <a:moveTo>
                  <a:pt x="0" y="0"/>
                </a:moveTo>
                <a:lnTo>
                  <a:pt x="2211923" y="0"/>
                </a:lnTo>
                <a:lnTo>
                  <a:pt x="2211923" y="158924"/>
                </a:lnTo>
                <a:lnTo>
                  <a:pt x="0" y="158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1288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54617" y="13925679"/>
            <a:ext cx="2047585" cy="148103"/>
          </a:xfrm>
          <a:custGeom>
            <a:avLst/>
            <a:gdLst/>
            <a:ahLst/>
            <a:cxnLst/>
            <a:rect r="r" b="b" t="t" l="l"/>
            <a:pathLst>
              <a:path h="148103" w="2047585">
                <a:moveTo>
                  <a:pt x="0" y="0"/>
                </a:moveTo>
                <a:lnTo>
                  <a:pt x="2047585" y="0"/>
                </a:lnTo>
                <a:lnTo>
                  <a:pt x="2047585" y="148103"/>
                </a:lnTo>
                <a:lnTo>
                  <a:pt x="0" y="148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534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86598" y="14111413"/>
            <a:ext cx="1641968" cy="155278"/>
          </a:xfrm>
          <a:custGeom>
            <a:avLst/>
            <a:gdLst/>
            <a:ahLst/>
            <a:cxnLst/>
            <a:rect r="r" b="b" t="t" l="l"/>
            <a:pathLst>
              <a:path h="155278" w="1641968">
                <a:moveTo>
                  <a:pt x="0" y="0"/>
                </a:moveTo>
                <a:lnTo>
                  <a:pt x="1641968" y="0"/>
                </a:lnTo>
                <a:lnTo>
                  <a:pt x="1641968" y="155279"/>
                </a:lnTo>
                <a:lnTo>
                  <a:pt x="0" y="155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9256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23457" y="13726066"/>
            <a:ext cx="1855159" cy="179764"/>
          </a:xfrm>
          <a:custGeom>
            <a:avLst/>
            <a:gdLst/>
            <a:ahLst/>
            <a:cxnLst/>
            <a:rect r="r" b="b" t="t" l="l"/>
            <a:pathLst>
              <a:path h="179764" w="1855159">
                <a:moveTo>
                  <a:pt x="0" y="0"/>
                </a:moveTo>
                <a:lnTo>
                  <a:pt x="1855159" y="0"/>
                </a:lnTo>
                <a:lnTo>
                  <a:pt x="1855159" y="179763"/>
                </a:lnTo>
                <a:lnTo>
                  <a:pt x="0" y="179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27893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37350" y="13847051"/>
            <a:ext cx="572951" cy="270242"/>
          </a:xfrm>
          <a:custGeom>
            <a:avLst/>
            <a:gdLst/>
            <a:ahLst/>
            <a:cxnLst/>
            <a:rect r="r" b="b" t="t" l="l"/>
            <a:pathLst>
              <a:path h="270242" w="572951">
                <a:moveTo>
                  <a:pt x="0" y="0"/>
                </a:moveTo>
                <a:lnTo>
                  <a:pt x="572951" y="0"/>
                </a:lnTo>
                <a:lnTo>
                  <a:pt x="572951" y="270242"/>
                </a:lnTo>
                <a:lnTo>
                  <a:pt x="0" y="2702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3994" y="13800248"/>
            <a:ext cx="771407" cy="363847"/>
          </a:xfrm>
          <a:custGeom>
            <a:avLst/>
            <a:gdLst/>
            <a:ahLst/>
            <a:cxnLst/>
            <a:rect r="r" b="b" t="t" l="l"/>
            <a:pathLst>
              <a:path h="363847" w="771407">
                <a:moveTo>
                  <a:pt x="0" y="0"/>
                </a:moveTo>
                <a:lnTo>
                  <a:pt x="771407" y="0"/>
                </a:lnTo>
                <a:lnTo>
                  <a:pt x="771407" y="363847"/>
                </a:lnTo>
                <a:lnTo>
                  <a:pt x="0" y="363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00166" y="15114417"/>
            <a:ext cx="501741" cy="501741"/>
          </a:xfrm>
          <a:custGeom>
            <a:avLst/>
            <a:gdLst/>
            <a:ahLst/>
            <a:cxnLst/>
            <a:rect r="r" b="b" t="t" l="l"/>
            <a:pathLst>
              <a:path h="501741" w="501741">
                <a:moveTo>
                  <a:pt x="0" y="0"/>
                </a:moveTo>
                <a:lnTo>
                  <a:pt x="501741" y="0"/>
                </a:lnTo>
                <a:lnTo>
                  <a:pt x="501741" y="501741"/>
                </a:lnTo>
                <a:lnTo>
                  <a:pt x="0" y="5017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1875" y="14978829"/>
            <a:ext cx="772917" cy="772917"/>
          </a:xfrm>
          <a:custGeom>
            <a:avLst/>
            <a:gdLst/>
            <a:ahLst/>
            <a:cxnLst/>
            <a:rect r="r" b="b" t="t" l="l"/>
            <a:pathLst>
              <a:path h="772917" w="772917">
                <a:moveTo>
                  <a:pt x="0" y="0"/>
                </a:moveTo>
                <a:lnTo>
                  <a:pt x="772917" y="0"/>
                </a:lnTo>
                <a:lnTo>
                  <a:pt x="772917" y="772917"/>
                </a:lnTo>
                <a:lnTo>
                  <a:pt x="0" y="7729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26369" y="16883828"/>
            <a:ext cx="324724" cy="324724"/>
          </a:xfrm>
          <a:custGeom>
            <a:avLst/>
            <a:gdLst/>
            <a:ahLst/>
            <a:cxnLst/>
            <a:rect r="r" b="b" t="t" l="l"/>
            <a:pathLst>
              <a:path h="324724" w="324724">
                <a:moveTo>
                  <a:pt x="0" y="0"/>
                </a:moveTo>
                <a:lnTo>
                  <a:pt x="324724" y="0"/>
                </a:lnTo>
                <a:lnTo>
                  <a:pt x="324724" y="324724"/>
                </a:lnTo>
                <a:lnTo>
                  <a:pt x="0" y="324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91318" y="15694596"/>
            <a:ext cx="3319438" cy="172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013"/>
              </a:lnSpc>
            </a:pPr>
            <a:r>
              <a:rPr lang="he-IL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קלוד קוד הוא המוביל ביותר בשוק. אנטרופיק (שפיתחו אותו), עושים מהפכה גדולה בעבודה עם כלי קוד, והביאו לחיינו שיטות עבודה כמו </a:t>
            </a:r>
            <a:r>
              <a:rPr lang="en-US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skills</a:t>
            </a:r>
            <a:r>
              <a:rPr lang="he-IL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(שנדבר עליהן בהמשך).</a:t>
            </a:r>
          </a:p>
          <a:p>
            <a:pPr algn="ctr" rtl="true">
              <a:lnSpc>
                <a:spcPts val="2013"/>
              </a:lnSpc>
            </a:pPr>
            <a:r>
              <a:rPr lang="he-IL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בחוץ השימוש בו הוא עם המודלים של אנטרופיק (</a:t>
            </a:r>
            <a:r>
              <a:rPr lang="en-US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Opus, Sonnet</a:t>
            </a:r>
            <a:r>
              <a:rPr lang="he-IL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) שנחשבים חזקים מאוד,</a:t>
            </a:r>
          </a:p>
          <a:p>
            <a:pPr algn="ctr" rtl="true">
              <a:lnSpc>
                <a:spcPts val="2013"/>
              </a:lnSpc>
              <a:spcBef>
                <a:spcPct val="0"/>
              </a:spcBef>
            </a:pPr>
            <a:r>
              <a:rPr lang="he-IL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ובגלל זה הוא כלי אהוב.</a:t>
            </a:r>
          </a:p>
        </p:txBody>
      </p:sp>
      <p:sp>
        <p:nvSpPr>
          <p:cNvPr name="AutoShape 15" id="15"/>
          <p:cNvSpPr/>
          <p:nvPr/>
        </p:nvSpPr>
        <p:spPr>
          <a:xfrm>
            <a:off x="273447" y="16802245"/>
            <a:ext cx="7007210" cy="76686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273447" y="17156179"/>
            <a:ext cx="495052" cy="451030"/>
          </a:xfrm>
          <a:custGeom>
            <a:avLst/>
            <a:gdLst/>
            <a:ahLst/>
            <a:cxnLst/>
            <a:rect r="r" b="b" t="t" l="l"/>
            <a:pathLst>
              <a:path h="451030" w="495052">
                <a:moveTo>
                  <a:pt x="0" y="0"/>
                </a:moveTo>
                <a:lnTo>
                  <a:pt x="495052" y="0"/>
                </a:lnTo>
                <a:lnTo>
                  <a:pt x="495052" y="451029"/>
                </a:lnTo>
                <a:lnTo>
                  <a:pt x="0" y="451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71016" r="-255891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0" y="18430183"/>
            <a:ext cx="7594898" cy="187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נכנסים לאתר קרמל, לוחצים על “שירותי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AI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”, ומתקינים את שני הכלים✨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* עקבו אחרי ההוראות שכתובות בהתקנה (סגירת ופתיחת החלונות)</a:t>
            </a:r>
          </a:p>
          <a:p>
            <a:pPr algn="ctr" rtl="true">
              <a:lnSpc>
                <a:spcPts val="2493"/>
              </a:lnSpc>
            </a:pP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*</a:t>
            </a:r>
            <a:r>
              <a:rPr lang="he-IL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שמרו את ה-</a:t>
            </a:r>
            <a:r>
              <a:rPr lang="en-US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Key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שמופיע לכם בסוף שורת ההתקנה. הוא אישי שלכם, </a:t>
            </a:r>
            <a:r>
              <a:rPr lang="he-IL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ולא נוכל לשחזר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לכם אותו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(ה-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Key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נראה ככה: ...-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)</a:t>
            </a:r>
          </a:p>
          <a:p>
            <a:pPr algn="ctr" rtl="true">
              <a:lnSpc>
                <a:spcPts val="2493"/>
              </a:lnSpc>
            </a:pP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*</a:t>
            </a:r>
            <a:r>
              <a:rPr lang="he-IL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אל תשתפו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את שורת ההתקנה וה-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Key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עם אף אחד - הוא </a:t>
            </a:r>
            <a:r>
              <a:rPr lang="he-IL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מוגבל בבקשות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* אנחנו נעדכן לכם את </a:t>
            </a:r>
            <a:r>
              <a:rPr lang="he-IL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הגרסאות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של הכלים </a:t>
            </a:r>
            <a:r>
              <a:rPr lang="he-IL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בצורה שקופה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ונעדכן אתכם בחידושים😇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78136" y="14609089"/>
            <a:ext cx="1837419" cy="33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973"/>
              </a:lnSpc>
              <a:spcBef>
                <a:spcPct val="0"/>
              </a:spcBef>
            </a:pPr>
            <a:r>
              <a:rPr lang="he-IL" sz="1858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ומה לגבי הכלים?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7548" y="15694596"/>
            <a:ext cx="3313424" cy="98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013"/>
              </a:lnSpc>
              <a:spcBef>
                <a:spcPct val="0"/>
              </a:spcBef>
            </a:pPr>
            <a:r>
              <a:rPr lang="he-IL" sz="12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רו קוד הוא כלי מעולה, שבבסיסו מתאים את עצמו לעבודה עם מודלים שונים ומגוונים. הוא מוציא בקלות דיאגרמות, ויש לו מספר מצבי עבודה  (שגם עליהם נדבר בהמשך)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2825" y="16878445"/>
            <a:ext cx="2184023" cy="28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33"/>
              </a:lnSpc>
              <a:spcBef>
                <a:spcPct val="0"/>
              </a:spcBef>
            </a:pPr>
            <a:r>
              <a:rPr lang="he-IL" sz="14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שניהם נתמכים ב-</a:t>
            </a:r>
            <a:r>
              <a:rPr lang="en-US" sz="14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VSCode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7049" y="17241062"/>
            <a:ext cx="3248849" cy="28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333"/>
              </a:lnSpc>
              <a:spcBef>
                <a:spcPct val="0"/>
              </a:spcBef>
            </a:pPr>
            <a:r>
              <a:rPr lang="he-IL" sz="14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וקלוד גם בטרמינל (ובטרמינל של כל </a:t>
            </a:r>
            <a:r>
              <a:rPr lang="en-US" sz="14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IDE</a:t>
            </a:r>
            <a:r>
              <a:rPr lang="ar-EG" sz="14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66627" y="17997733"/>
            <a:ext cx="1661645" cy="33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973"/>
              </a:lnSpc>
              <a:spcBef>
                <a:spcPct val="0"/>
              </a:spcBef>
            </a:pPr>
            <a:r>
              <a:rPr lang="he-IL" sz="1858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נעבור להתקנה!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8782" y="13060468"/>
            <a:ext cx="1862435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1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1</a:t>
            </a:r>
            <a:r>
              <a:rPr lang="ar-EG" sz="21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 - </a:t>
            </a:r>
            <a:r>
              <a:rPr lang="en-US" sz="21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Roo Code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246792" y="12860443"/>
            <a:ext cx="536884" cy="536884"/>
          </a:xfrm>
          <a:custGeom>
            <a:avLst/>
            <a:gdLst/>
            <a:ahLst/>
            <a:cxnLst/>
            <a:rect r="r" b="b" t="t" l="l"/>
            <a:pathLst>
              <a:path h="536884" w="536884">
                <a:moveTo>
                  <a:pt x="0" y="0"/>
                </a:moveTo>
                <a:lnTo>
                  <a:pt x="536884" y="0"/>
                </a:lnTo>
                <a:lnTo>
                  <a:pt x="536884" y="536884"/>
                </a:lnTo>
                <a:lnTo>
                  <a:pt x="0" y="536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21555" y="13603393"/>
            <a:ext cx="386458" cy="387084"/>
            <a:chOff x="0" y="0"/>
            <a:chExt cx="137407" cy="1376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37407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33834" y="14668947"/>
            <a:ext cx="386458" cy="387084"/>
            <a:chOff x="0" y="0"/>
            <a:chExt cx="137407" cy="1376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7407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08546" y="15332256"/>
            <a:ext cx="386458" cy="387084"/>
            <a:chOff x="0" y="0"/>
            <a:chExt cx="137407" cy="137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7407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3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19166" y="13347906"/>
            <a:ext cx="468045" cy="1111491"/>
          </a:xfrm>
          <a:custGeom>
            <a:avLst/>
            <a:gdLst/>
            <a:ahLst/>
            <a:cxnLst/>
            <a:rect r="r" b="b" t="t" l="l"/>
            <a:pathLst>
              <a:path h="1111491" w="468045">
                <a:moveTo>
                  <a:pt x="0" y="0"/>
                </a:moveTo>
                <a:lnTo>
                  <a:pt x="468045" y="0"/>
                </a:lnTo>
                <a:lnTo>
                  <a:pt x="468045" y="1111491"/>
                </a:lnTo>
                <a:lnTo>
                  <a:pt x="0" y="1111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9500" r="0" b="-1168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3189" y="13614029"/>
            <a:ext cx="5713622" cy="61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נפתח את 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VSCode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</a:t>
            </a:r>
            <a:r>
              <a:rPr lang="he-IL" sz="1558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על התיקייה שעליה נרצה לעבוד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ונחפש את האייקון של הקנגרו בבר השמאלי</a:t>
            </a:r>
          </a:p>
        </p:txBody>
      </p:sp>
      <p:sp>
        <p:nvSpPr>
          <p:cNvPr name="AutoShape 15" id="15"/>
          <p:cNvSpPr/>
          <p:nvPr/>
        </p:nvSpPr>
        <p:spPr>
          <a:xfrm flipH="true">
            <a:off x="1304677" y="14127710"/>
            <a:ext cx="712857" cy="116766"/>
          </a:xfrm>
          <a:prstGeom prst="line">
            <a:avLst/>
          </a:prstGeom>
          <a:ln cap="flat" w="28575">
            <a:solidFill>
              <a:srgbClr val="A84B0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6" id="16"/>
          <p:cNvSpPr txBox="true"/>
          <p:nvPr/>
        </p:nvSpPr>
        <p:spPr>
          <a:xfrm rot="0">
            <a:off x="1394867" y="11915775"/>
            <a:ext cx="4830267" cy="79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19"/>
              </a:lnSpc>
            </a:pPr>
            <a:r>
              <a:rPr lang="he-IL" sz="21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מתחילים לעבוד💪</a:t>
            </a:r>
          </a:p>
          <a:p>
            <a:pPr algn="ctr" rtl="true">
              <a:lnSpc>
                <a:spcPts val="2973"/>
              </a:lnSpc>
              <a:spcBef>
                <a:spcPct val="0"/>
              </a:spcBef>
            </a:pPr>
            <a:r>
              <a:rPr lang="he-IL" sz="18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נעבור על כל מה שאתם צריכים לדעת על שני הכלים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8561" y="14687759"/>
            <a:ext cx="4962879" cy="3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נשלח “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Hello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” ונראה שההתקנה צלחה ואנחנו מקבלים מענה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8579" y="15348379"/>
            <a:ext cx="6730441" cy="124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נלמד איך מחליפים מודל. נעשה את זה כשהמודל איטי / לא נותן לנו מענה כמו שרצינו (בהמשך נראה איפה רואים את מהירות המודלים). 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נלחץ על ה-⚙️ שבצד ימין למעלה. תחת “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Model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” נוכל לראות את רשימת המודלים שזמינים לנו, ולבחור מביניהם.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83129" y="11906250"/>
            <a:ext cx="386458" cy="387084"/>
            <a:chOff x="0" y="0"/>
            <a:chExt cx="137407" cy="137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407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3528767"/>
            <a:ext cx="7620000" cy="628120"/>
            <a:chOff x="0" y="0"/>
            <a:chExt cx="2709333" cy="2233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3" cy="223332"/>
            </a:xfrm>
            <a:custGeom>
              <a:avLst/>
              <a:gdLst/>
              <a:ahLst/>
              <a:cxnLst/>
              <a:rect r="r" b="b" t="t" l="l"/>
              <a:pathLst>
                <a:path h="22333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23332"/>
                  </a:lnTo>
                  <a:lnTo>
                    <a:pt x="0" y="223332"/>
                  </a:lnTo>
                  <a:close/>
                </a:path>
              </a:pathLst>
            </a:custGeom>
            <a:solidFill>
              <a:srgbClr val="A84B0F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09333" cy="280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5631" y="15504825"/>
            <a:ext cx="7308738" cy="15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אחרי שתקראו את הטיפים לכתיבת פרומפט נכון (בהמשך העמוד), נסו עוד כמה פעמים לשאלות שאלות ולבקש שיעשה משימות. נעבור על טיפ אחרון מאיתנו: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ל-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Roo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יש מספר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mode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-ים (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Architect, Code, Debug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...), ולאורך ההתנסות איתו אתם תראו שהוא מבקש רשות כדי לעשות כל דבר. ממליצים ללחוץ על כפתור ה-      בתחתית הכלי,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לסמן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enable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ולבחור מה אתם מאפשרים לו לבצע בלי לשאול אתכם (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auto approve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04620" y="15476975"/>
            <a:ext cx="386458" cy="387084"/>
            <a:chOff x="0" y="0"/>
            <a:chExt cx="137407" cy="1376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7407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20136697"/>
            <a:ext cx="7620000" cy="1270118"/>
            <a:chOff x="0" y="0"/>
            <a:chExt cx="2709333" cy="4515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9333" cy="451598"/>
            </a:xfrm>
            <a:custGeom>
              <a:avLst/>
              <a:gdLst/>
              <a:ahLst/>
              <a:cxnLst/>
              <a:rect r="r" b="b" t="t" l="l"/>
              <a:pathLst>
                <a:path h="451598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451598"/>
                  </a:lnTo>
                  <a:lnTo>
                    <a:pt x="0" y="451598"/>
                  </a:lnTo>
                  <a:close/>
                </a:path>
              </a:pathLst>
            </a:custGeom>
            <a:solidFill>
              <a:srgbClr val="E46919">
                <a:alpha val="23922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709333" cy="508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61253" y="16409479"/>
            <a:ext cx="411418" cy="411418"/>
          </a:xfrm>
          <a:custGeom>
            <a:avLst/>
            <a:gdLst/>
            <a:ahLst/>
            <a:cxnLst/>
            <a:rect r="r" b="b" t="t" l="l"/>
            <a:pathLst>
              <a:path h="411418" w="411418">
                <a:moveTo>
                  <a:pt x="0" y="0"/>
                </a:moveTo>
                <a:lnTo>
                  <a:pt x="411418" y="0"/>
                </a:lnTo>
                <a:lnTo>
                  <a:pt x="411418" y="411418"/>
                </a:lnTo>
                <a:lnTo>
                  <a:pt x="0" y="41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0" y="20098022"/>
            <a:ext cx="7620000" cy="128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60"/>
              </a:lnSpc>
            </a:pPr>
            <a:r>
              <a:rPr lang="he-IL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באתר קרמל תהיה סביבה לקהילת ה-</a:t>
            </a:r>
            <a:r>
              <a:rPr lang="en-US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AI</a:t>
            </a:r>
            <a:r>
              <a:rPr lang="he-IL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שתוכלו לשתף שם דברים חדשים שגיליתם ועשיתם.</a:t>
            </a:r>
          </a:p>
          <a:p>
            <a:pPr algn="ctr" rtl="true">
              <a:lnSpc>
                <a:spcPts val="2560"/>
              </a:lnSpc>
            </a:pPr>
            <a:r>
              <a:rPr lang="he-IL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עד אז יש לנו את קבוצת הווצאפ “</a:t>
            </a:r>
            <a:r>
              <a:rPr lang="en-US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AI</a:t>
            </a:r>
            <a:r>
              <a:rPr lang="he-IL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בגבעתיים”,</a:t>
            </a:r>
          </a:p>
          <a:p>
            <a:pPr algn="ctr" rtl="true">
              <a:lnSpc>
                <a:spcPts val="2560"/>
              </a:lnSpc>
            </a:pPr>
            <a:r>
              <a:rPr lang="he-IL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ו-</a:t>
            </a:r>
            <a:r>
              <a:rPr lang="he-IL" sz="1600" u="sng">
                <a:solidFill>
                  <a:srgbClr val="A84B0F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סביבה בקונפלואנס</a:t>
            </a:r>
            <a:r>
              <a:rPr lang="he-IL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בה מחכות לכם גם כל ההקלטות מהיום </a:t>
            </a:r>
            <a:r>
              <a:rPr lang="en-US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AI</a:t>
            </a:r>
            <a:r>
              <a:rPr lang="ar-EG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</a:t>
            </a:r>
          </a:p>
          <a:p>
            <a:pPr algn="ctr" rtl="true">
              <a:lnSpc>
                <a:spcPts val="2560"/>
              </a:lnSpc>
              <a:spcBef>
                <a:spcPct val="0"/>
              </a:spcBef>
            </a:pPr>
            <a:r>
              <a:rPr lang="he-IL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ביניהן הדגמת שימוש ב-</a:t>
            </a:r>
            <a:r>
              <a:rPr lang="en-US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 Code</a:t>
            </a:r>
            <a:r>
              <a:rPr lang="ar-EG" sz="1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💫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1372129">
            <a:off x="6274749" y="21050998"/>
            <a:ext cx="177773" cy="242280"/>
          </a:xfrm>
          <a:custGeom>
            <a:avLst/>
            <a:gdLst/>
            <a:ahLst/>
            <a:cxnLst/>
            <a:rect r="r" b="b" t="t" l="l"/>
            <a:pathLst>
              <a:path h="242280" w="177773">
                <a:moveTo>
                  <a:pt x="0" y="0"/>
                </a:moveTo>
                <a:lnTo>
                  <a:pt x="177773" y="0"/>
                </a:lnTo>
                <a:lnTo>
                  <a:pt x="177773" y="242280"/>
                </a:lnTo>
                <a:lnTo>
                  <a:pt x="0" y="24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5408" y="11930970"/>
            <a:ext cx="7449183" cy="281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נשלח את 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prompt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(הבקשה) הראשון שלנו!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כמו עם כל כלי, כדאי ללמוד אותו ואת היכולות שלו. נדבר על כמה טיפים ספציפיים ל-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Roo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ובהמשך נדבר גם על איך לכתוב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prompts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נכון.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נתחיל בשאלה פשוטה, ולאט לאט נפתח אמון בכלים. בחרו רכיב במערכת שאתם מכירים, ותדעו לאמת האם התשובה נכונה או לא. כתבו:</a:t>
            </a:r>
          </a:p>
          <a:p>
            <a:pPr algn="ctr">
              <a:lnSpc>
                <a:spcPts val="2493"/>
              </a:lnSpc>
            </a:pP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“I’m new to this codebase, analyze @&lt;component_name&gt; and explain its purpose, internal logic, dependencies, and interactions with other components.”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💡כשכותבים “@”, כתבו את שם הקובץ המדויק שעליו אתם מדברים ובחרו אותו, זה יימקד את המודל והוא לא יבזבז טוקנים על חיפוש של הקומפוננטה.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91606" y="19381682"/>
            <a:ext cx="3036788" cy="41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19"/>
              </a:lnSpc>
              <a:spcBef>
                <a:spcPct val="0"/>
              </a:spcBef>
            </a:pPr>
            <a:r>
              <a:rPr lang="he-IL" sz="21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וזהו לבינתיים ב-</a:t>
            </a:r>
            <a:r>
              <a:rPr lang="en-US" sz="21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Roo</a:t>
            </a:r>
            <a:r>
              <a:rPr lang="ar-EG" sz="2199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21086" y="13076098"/>
            <a:ext cx="5399539" cy="0"/>
          </a:xfrm>
          <a:prstGeom prst="line">
            <a:avLst/>
          </a:prstGeom>
          <a:ln cap="flat" w="19050">
            <a:solidFill>
              <a:srgbClr val="A84B0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520625" y="12902490"/>
            <a:ext cx="347217" cy="34721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95248" y="12902490"/>
            <a:ext cx="347217" cy="3472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85023" y="12902490"/>
            <a:ext cx="347217" cy="3472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7201017">
            <a:off x="5973014" y="13899735"/>
            <a:ext cx="1375596" cy="452696"/>
          </a:xfrm>
          <a:custGeom>
            <a:avLst/>
            <a:gdLst/>
            <a:ahLst/>
            <a:cxnLst/>
            <a:rect r="r" b="b" t="t" l="l"/>
            <a:pathLst>
              <a:path h="452696" w="1375596">
                <a:moveTo>
                  <a:pt x="0" y="452696"/>
                </a:moveTo>
                <a:lnTo>
                  <a:pt x="1375597" y="452696"/>
                </a:lnTo>
                <a:lnTo>
                  <a:pt x="1375597" y="0"/>
                </a:lnTo>
                <a:lnTo>
                  <a:pt x="0" y="0"/>
                </a:lnTo>
                <a:lnTo>
                  <a:pt x="0" y="4526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255783" y="17566579"/>
            <a:ext cx="7111851" cy="1656914"/>
            <a:chOff x="0" y="0"/>
            <a:chExt cx="2528658" cy="589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28658" cy="589125"/>
            </a:xfrm>
            <a:custGeom>
              <a:avLst/>
              <a:gdLst/>
              <a:ahLst/>
              <a:cxnLst/>
              <a:rect r="r" b="b" t="t" l="l"/>
              <a:pathLst>
                <a:path h="589125" w="2528658">
                  <a:moveTo>
                    <a:pt x="41367" y="0"/>
                  </a:moveTo>
                  <a:lnTo>
                    <a:pt x="2487291" y="0"/>
                  </a:lnTo>
                  <a:cubicBezTo>
                    <a:pt x="2510138" y="0"/>
                    <a:pt x="2528658" y="18520"/>
                    <a:pt x="2528658" y="41367"/>
                  </a:cubicBezTo>
                  <a:lnTo>
                    <a:pt x="2528658" y="547758"/>
                  </a:lnTo>
                  <a:cubicBezTo>
                    <a:pt x="2528658" y="570605"/>
                    <a:pt x="2510138" y="589125"/>
                    <a:pt x="2487291" y="589125"/>
                  </a:cubicBezTo>
                  <a:lnTo>
                    <a:pt x="41367" y="589125"/>
                  </a:lnTo>
                  <a:cubicBezTo>
                    <a:pt x="18520" y="589125"/>
                    <a:pt x="0" y="570605"/>
                    <a:pt x="0" y="547758"/>
                  </a:cubicBezTo>
                  <a:lnTo>
                    <a:pt x="0" y="41367"/>
                  </a:lnTo>
                  <a:cubicBezTo>
                    <a:pt x="0" y="18520"/>
                    <a:pt x="18520" y="0"/>
                    <a:pt x="41367" y="0"/>
                  </a:cubicBezTo>
                  <a:close/>
                </a:path>
              </a:pathLst>
            </a:custGeom>
            <a:solidFill>
              <a:srgbClr val="E4691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528658" cy="655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59"/>
                </a:lnSpc>
              </a:pPr>
              <a:r>
                <a:rPr lang="he-IL" sz="159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  <a:rtl val="true"/>
                </a:rPr>
                <a:t>מקדו כמה שיותר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לכל מודל יש 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context window</a:t>
              </a: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, שזה בעצם “כמה מידע הוא יכול להחזיק בכל שיחה”.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לא: “תכתוב לי טסטים לכל ה-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repo</a:t>
              </a: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, תבין איך אני כותבת מטסטים שכבר קיימים”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כן: “תכתוב לי טסטים לקומפוננטה @, תוכל לראות בקובץ @ טסטים לדוגמה”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💡פתחו שיחות חדשות למשימות שונות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3941" y="16184617"/>
            <a:ext cx="7155535" cy="1296237"/>
            <a:chOff x="0" y="0"/>
            <a:chExt cx="2544190" cy="4608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4190" cy="460884"/>
            </a:xfrm>
            <a:custGeom>
              <a:avLst/>
              <a:gdLst/>
              <a:ahLst/>
              <a:cxnLst/>
              <a:rect r="r" b="b" t="t" l="l"/>
              <a:pathLst>
                <a:path h="460884" w="2544190">
                  <a:moveTo>
                    <a:pt x="41114" y="0"/>
                  </a:moveTo>
                  <a:lnTo>
                    <a:pt x="2503076" y="0"/>
                  </a:lnTo>
                  <a:cubicBezTo>
                    <a:pt x="2525783" y="0"/>
                    <a:pt x="2544190" y="18407"/>
                    <a:pt x="2544190" y="41114"/>
                  </a:cubicBezTo>
                  <a:lnTo>
                    <a:pt x="2544190" y="419770"/>
                  </a:lnTo>
                  <a:cubicBezTo>
                    <a:pt x="2544190" y="430674"/>
                    <a:pt x="2539859" y="441132"/>
                    <a:pt x="2532148" y="448842"/>
                  </a:cubicBezTo>
                  <a:cubicBezTo>
                    <a:pt x="2524438" y="456553"/>
                    <a:pt x="2513980" y="460884"/>
                    <a:pt x="2503076" y="460884"/>
                  </a:cubicBezTo>
                  <a:lnTo>
                    <a:pt x="41114" y="460884"/>
                  </a:lnTo>
                  <a:cubicBezTo>
                    <a:pt x="30210" y="460884"/>
                    <a:pt x="19752" y="456553"/>
                    <a:pt x="12042" y="448842"/>
                  </a:cubicBezTo>
                  <a:cubicBezTo>
                    <a:pt x="4332" y="441132"/>
                    <a:pt x="0" y="430674"/>
                    <a:pt x="0" y="419770"/>
                  </a:cubicBezTo>
                  <a:lnTo>
                    <a:pt x="0" y="41114"/>
                  </a:lnTo>
                  <a:cubicBezTo>
                    <a:pt x="0" y="30210"/>
                    <a:pt x="4332" y="19752"/>
                    <a:pt x="12042" y="12042"/>
                  </a:cubicBezTo>
                  <a:cubicBezTo>
                    <a:pt x="19752" y="4332"/>
                    <a:pt x="30210" y="0"/>
                    <a:pt x="41114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544190" cy="527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59"/>
                </a:lnSpc>
              </a:pPr>
              <a:r>
                <a:rPr lang="he-IL" sz="159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  <a:rtl val="true"/>
                </a:rPr>
                <a:t>תנו הקשר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המודל יעבוד טוב יותר כשיבין את העולם שלכם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“המערכת היא מערכת שו”ב, שמפותחת ב-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python 3.12</a:t>
              </a: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, ומטרתה לזהות חתולים במדבר”</a:t>
              </a:r>
            </a:p>
            <a:p>
              <a:pPr algn="ctr">
                <a:lnSpc>
                  <a:spcPts val="2240"/>
                </a:lnSpc>
              </a:pP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“</a:t>
              </a: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אני חדשה בצוות, תסביר לי את הכל מאפס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”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5783" y="19309218"/>
            <a:ext cx="7111851" cy="1877743"/>
            <a:chOff x="0" y="0"/>
            <a:chExt cx="2528658" cy="6676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28658" cy="667642"/>
            </a:xfrm>
            <a:custGeom>
              <a:avLst/>
              <a:gdLst/>
              <a:ahLst/>
              <a:cxnLst/>
              <a:rect r="r" b="b" t="t" l="l"/>
              <a:pathLst>
                <a:path h="667642" w="2528658">
                  <a:moveTo>
                    <a:pt x="41367" y="0"/>
                  </a:moveTo>
                  <a:lnTo>
                    <a:pt x="2487291" y="0"/>
                  </a:lnTo>
                  <a:cubicBezTo>
                    <a:pt x="2510138" y="0"/>
                    <a:pt x="2528658" y="18520"/>
                    <a:pt x="2528658" y="41367"/>
                  </a:cubicBezTo>
                  <a:lnTo>
                    <a:pt x="2528658" y="626275"/>
                  </a:lnTo>
                  <a:cubicBezTo>
                    <a:pt x="2528658" y="649121"/>
                    <a:pt x="2510138" y="667642"/>
                    <a:pt x="2487291" y="667642"/>
                  </a:cubicBezTo>
                  <a:lnTo>
                    <a:pt x="41367" y="667642"/>
                  </a:lnTo>
                  <a:cubicBezTo>
                    <a:pt x="18520" y="667642"/>
                    <a:pt x="0" y="649121"/>
                    <a:pt x="0" y="626275"/>
                  </a:cubicBezTo>
                  <a:lnTo>
                    <a:pt x="0" y="41367"/>
                  </a:lnTo>
                  <a:cubicBezTo>
                    <a:pt x="0" y="18520"/>
                    <a:pt x="18520" y="0"/>
                    <a:pt x="41367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528658" cy="734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59"/>
                </a:lnSpc>
              </a:pPr>
              <a:r>
                <a:rPr lang="en-US" sz="159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Planning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כדי שהתוצר יהיה בדיוק כמו שאתם רוצים, פרקו את המשימה לתתי משימות ותכווינו אותו כיצד לבצע את המשימה, בדיוק כמו שהייתם מכווינים חייל חדש בצוות.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לא: “תכתוב לי טסטים”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כן: “ עבור כל פונקציה, 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1</a:t>
              </a: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. תבין מה היא עושה, 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2</a:t>
              </a: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. זהה את התלויות 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3</a:t>
              </a: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. הגדר מקרי בדיקה... אשר מולי את התוצר של כל אחד מהשלבים לפני שעובר לשלב הבא.”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73869" y="12902490"/>
            <a:ext cx="347217" cy="34721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269627" y="11830050"/>
            <a:ext cx="1084163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360"/>
              </a:lnSpc>
              <a:spcBef>
                <a:spcPct val="0"/>
              </a:spcBef>
            </a:pPr>
            <a:r>
              <a:rPr lang="he-IL" sz="21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נמשיך ל: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69185" y="12466320"/>
            <a:ext cx="2010073" cy="31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2557"/>
              </a:lnSpc>
              <a:spcBef>
                <a:spcPct val="0"/>
              </a:spcBef>
            </a:pPr>
            <a:r>
              <a:rPr lang="he-IL" sz="1598" strike="noStrike" u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טיפים לכתיבת </a:t>
            </a:r>
            <a:r>
              <a:rPr lang="en-US" sz="1598" strike="noStrike" u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Prompts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17981" y="13259231"/>
            <a:ext cx="2301751" cy="63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57"/>
              </a:lnSpc>
            </a:pPr>
            <a:r>
              <a:rPr lang="he-IL" sz="159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היכרות עם הדשבורד מודלים</a:t>
            </a:r>
          </a:p>
          <a:p>
            <a:pPr algn="ctr" rtl="true">
              <a:lnSpc>
                <a:spcPts val="2557"/>
              </a:lnSpc>
              <a:spcBef>
                <a:spcPct val="0"/>
              </a:spcBef>
            </a:pPr>
            <a:r>
              <a:rPr lang="ar-EG" sz="159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(</a:t>
            </a:r>
            <a:r>
              <a:rPr lang="en-US" sz="159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up/down</a:t>
            </a:r>
            <a:r>
              <a:rPr lang="he-IL" sz="159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+ מהירות)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24612" y="12466320"/>
            <a:ext cx="1468041" cy="318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2557"/>
              </a:lnSpc>
              <a:spcBef>
                <a:spcPct val="0"/>
              </a:spcBef>
            </a:pPr>
            <a:r>
              <a:rPr lang="en-US" sz="1598" strike="noStrike" u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 Code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82213" y="14744818"/>
            <a:ext cx="445899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Best Practices</a:t>
            </a:r>
            <a:r>
              <a:rPr lang="he-IL" sz="21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 לכתיבת פרומפטים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84" y="15257263"/>
            <a:ext cx="7607449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6"/>
              </a:lnSpc>
              <a:spcBef>
                <a:spcPct val="0"/>
              </a:spcBef>
            </a:pPr>
            <a:r>
              <a:rPr lang="he-IL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מה זה </a:t>
            </a:r>
            <a:r>
              <a:rPr lang="en-US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prompt</a:t>
            </a:r>
            <a:r>
              <a:rPr lang="he-IL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? הקלט (שאלה, הנחייה) שאנחנו כותבים למודל ה-</a:t>
            </a:r>
            <a:r>
              <a:rPr lang="en-US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AI</a:t>
            </a:r>
            <a:r>
              <a:rPr lang="ar-EG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3943" y="15692365"/>
            <a:ext cx="5355531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6"/>
              </a:lnSpc>
              <a:spcBef>
                <a:spcPct val="0"/>
              </a:spcBef>
            </a:pPr>
            <a:r>
              <a:rPr lang="he-IL" b="true" sz="1560">
                <a:solidFill>
                  <a:srgbClr val="A84B0F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איכות ה-</a:t>
            </a:r>
            <a:r>
              <a:rPr lang="en-US" b="true" sz="1560">
                <a:solidFill>
                  <a:srgbClr val="A84B0F"/>
                </a:solidFill>
                <a:latin typeface="Rubik Bold"/>
                <a:ea typeface="Rubik Bold"/>
                <a:cs typeface="Rubik Bold"/>
                <a:sym typeface="Rubik Bold"/>
              </a:rPr>
              <a:t>prompt</a:t>
            </a:r>
            <a:r>
              <a:rPr lang="he-IL" b="true" sz="1560">
                <a:solidFill>
                  <a:srgbClr val="A84B0F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 משפיעה באופן ישיר על איכות התוצאה שנקבל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13259231"/>
            <a:ext cx="1894714" cy="58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557"/>
              </a:lnSpc>
            </a:pPr>
            <a:r>
              <a:rPr lang="he-IL" sz="159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איך לדבר איתנו</a:t>
            </a:r>
          </a:p>
          <a:p>
            <a:pPr algn="ctr" rtl="true">
              <a:lnSpc>
                <a:spcPts val="2077"/>
              </a:lnSpc>
              <a:spcBef>
                <a:spcPct val="0"/>
              </a:spcBef>
            </a:pPr>
            <a:r>
              <a:rPr lang="he-IL" sz="129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(וכמה דברים שחשוב להכיר)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075" y="11906250"/>
            <a:ext cx="7111851" cy="1061664"/>
            <a:chOff x="0" y="0"/>
            <a:chExt cx="2528658" cy="377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8658" cy="377480"/>
            </a:xfrm>
            <a:custGeom>
              <a:avLst/>
              <a:gdLst/>
              <a:ahLst/>
              <a:cxnLst/>
              <a:rect r="r" b="b" t="t" l="l"/>
              <a:pathLst>
                <a:path h="377480" w="2528658">
                  <a:moveTo>
                    <a:pt x="41367" y="0"/>
                  </a:moveTo>
                  <a:lnTo>
                    <a:pt x="2487291" y="0"/>
                  </a:lnTo>
                  <a:cubicBezTo>
                    <a:pt x="2510138" y="0"/>
                    <a:pt x="2528658" y="18520"/>
                    <a:pt x="2528658" y="41367"/>
                  </a:cubicBezTo>
                  <a:lnTo>
                    <a:pt x="2528658" y="336114"/>
                  </a:lnTo>
                  <a:cubicBezTo>
                    <a:pt x="2528658" y="358960"/>
                    <a:pt x="2510138" y="377480"/>
                    <a:pt x="2487291" y="377480"/>
                  </a:cubicBezTo>
                  <a:lnTo>
                    <a:pt x="41367" y="377480"/>
                  </a:lnTo>
                  <a:cubicBezTo>
                    <a:pt x="18520" y="377480"/>
                    <a:pt x="0" y="358960"/>
                    <a:pt x="0" y="336114"/>
                  </a:cubicBezTo>
                  <a:lnTo>
                    <a:pt x="0" y="41367"/>
                  </a:lnTo>
                  <a:cubicBezTo>
                    <a:pt x="0" y="18520"/>
                    <a:pt x="18520" y="0"/>
                    <a:pt x="41367" y="0"/>
                  </a:cubicBezTo>
                  <a:close/>
                </a:path>
              </a:pathLst>
            </a:custGeom>
            <a:solidFill>
              <a:srgbClr val="E46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528658" cy="444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59"/>
                </a:lnSpc>
              </a:pPr>
              <a:r>
                <a:rPr lang="he-IL" sz="159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  <a:rtl val="true"/>
                </a:rPr>
                <a:t>משחקי תפקידים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זה נשמע מצחיק, אבל כשמגדירים למודל מי הוא, זה משפר סגנון, עומק וקבלת החלטות.</a:t>
              </a:r>
            </a:p>
            <a:p>
              <a:pPr algn="ctr">
                <a:lnSpc>
                  <a:spcPts val="2240"/>
                </a:lnSpc>
              </a:pP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"You are a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Senior Backend Developer with experience in Python and testing"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4075" y="13839086"/>
            <a:ext cx="7111851" cy="990600"/>
            <a:chOff x="0" y="0"/>
            <a:chExt cx="2528658" cy="3522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8658" cy="352213"/>
            </a:xfrm>
            <a:custGeom>
              <a:avLst/>
              <a:gdLst/>
              <a:ahLst/>
              <a:cxnLst/>
              <a:rect r="r" b="b" t="t" l="l"/>
              <a:pathLst>
                <a:path h="352213" w="2528658">
                  <a:moveTo>
                    <a:pt x="41367" y="0"/>
                  </a:moveTo>
                  <a:lnTo>
                    <a:pt x="2487291" y="0"/>
                  </a:lnTo>
                  <a:cubicBezTo>
                    <a:pt x="2510138" y="0"/>
                    <a:pt x="2528658" y="18520"/>
                    <a:pt x="2528658" y="41367"/>
                  </a:cubicBezTo>
                  <a:lnTo>
                    <a:pt x="2528658" y="310847"/>
                  </a:lnTo>
                  <a:cubicBezTo>
                    <a:pt x="2528658" y="333693"/>
                    <a:pt x="2510138" y="352213"/>
                    <a:pt x="2487291" y="352213"/>
                  </a:cubicBezTo>
                  <a:lnTo>
                    <a:pt x="41367" y="352213"/>
                  </a:lnTo>
                  <a:cubicBezTo>
                    <a:pt x="18520" y="352213"/>
                    <a:pt x="0" y="333693"/>
                    <a:pt x="0" y="310847"/>
                  </a:cubicBezTo>
                  <a:lnTo>
                    <a:pt x="0" y="41367"/>
                  </a:lnTo>
                  <a:cubicBezTo>
                    <a:pt x="0" y="18520"/>
                    <a:pt x="18520" y="0"/>
                    <a:pt x="41367" y="0"/>
                  </a:cubicBezTo>
                  <a:close/>
                </a:path>
              </a:pathLst>
            </a:custGeom>
            <a:solidFill>
              <a:srgbClr val="E469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28658" cy="418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59"/>
                </a:lnSpc>
              </a:pPr>
              <a:r>
                <a:rPr lang="he-IL" sz="159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  <a:rtl val="true"/>
                </a:rPr>
                <a:t>אינטראקטיביות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עודדו את המודל לשאול שאלות לפני ביצוע.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“יש לך עוד שאלות אליי כדי לבצע את המשימה בצורה טובה ומדויקת?”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4075" y="13053639"/>
            <a:ext cx="7111851" cy="699722"/>
            <a:chOff x="0" y="0"/>
            <a:chExt cx="2528658" cy="248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28658" cy="248790"/>
            </a:xfrm>
            <a:custGeom>
              <a:avLst/>
              <a:gdLst/>
              <a:ahLst/>
              <a:cxnLst/>
              <a:rect r="r" b="b" t="t" l="l"/>
              <a:pathLst>
                <a:path h="248790" w="2528658">
                  <a:moveTo>
                    <a:pt x="41367" y="0"/>
                  </a:moveTo>
                  <a:lnTo>
                    <a:pt x="2487291" y="0"/>
                  </a:lnTo>
                  <a:cubicBezTo>
                    <a:pt x="2510138" y="0"/>
                    <a:pt x="2528658" y="18520"/>
                    <a:pt x="2528658" y="41367"/>
                  </a:cubicBezTo>
                  <a:lnTo>
                    <a:pt x="2528658" y="207424"/>
                  </a:lnTo>
                  <a:cubicBezTo>
                    <a:pt x="2528658" y="230270"/>
                    <a:pt x="2510138" y="248790"/>
                    <a:pt x="2487291" y="248790"/>
                  </a:cubicBezTo>
                  <a:lnTo>
                    <a:pt x="41367" y="248790"/>
                  </a:lnTo>
                  <a:cubicBezTo>
                    <a:pt x="18520" y="248790"/>
                    <a:pt x="0" y="230270"/>
                    <a:pt x="0" y="207424"/>
                  </a:cubicBezTo>
                  <a:lnTo>
                    <a:pt x="0" y="41367"/>
                  </a:lnTo>
                  <a:cubicBezTo>
                    <a:pt x="0" y="18520"/>
                    <a:pt x="18520" y="0"/>
                    <a:pt x="41367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528658" cy="315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rtl="true">
                <a:lnSpc>
                  <a:spcPts val="2559"/>
                </a:lnSpc>
              </a:pPr>
              <a:r>
                <a:rPr lang="he-IL" sz="159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  <a:rtl val="true"/>
                </a:rPr>
                <a:t>תיאום ציפיות</a:t>
              </a:r>
            </a:p>
            <a:p>
              <a:pPr algn="ctr" rtl="true">
                <a:lnSpc>
                  <a:spcPts val="2240"/>
                </a:lnSpc>
              </a:pPr>
              <a:r>
                <a:rPr lang="he-IL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תהיו ברורים בתוצר שתרצו לקבל (</a:t>
              </a:r>
              <a:r>
                <a:rPr lang="en-US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Definition of Done</a:t>
              </a:r>
              <a:r>
                <a:rPr lang="ar-EG" sz="140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  <a:rtl val="true"/>
                </a:rPr>
                <a:t>)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0" y="18926153"/>
            <a:ext cx="7607449" cy="30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6"/>
              </a:lnSpc>
              <a:spcBef>
                <a:spcPct val="0"/>
              </a:spcBef>
            </a:pPr>
            <a:r>
              <a:rPr lang="he-IL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באתר קרמל   &gt;   </a:t>
            </a:r>
            <a:r>
              <a:rPr lang="he-IL" sz="1560" u="sng">
                <a:solidFill>
                  <a:srgbClr val="A84B0F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סטטוס מודלים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372129">
            <a:off x="3734345" y="19106765"/>
            <a:ext cx="177773" cy="242280"/>
          </a:xfrm>
          <a:custGeom>
            <a:avLst/>
            <a:gdLst/>
            <a:ahLst/>
            <a:cxnLst/>
            <a:rect r="r" b="b" t="t" l="l"/>
            <a:pathLst>
              <a:path h="242280" w="177773">
                <a:moveTo>
                  <a:pt x="0" y="0"/>
                </a:moveTo>
                <a:lnTo>
                  <a:pt x="177773" y="0"/>
                </a:lnTo>
                <a:lnTo>
                  <a:pt x="177773" y="242280"/>
                </a:lnTo>
                <a:lnTo>
                  <a:pt x="0" y="24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69944" y="15115436"/>
            <a:ext cx="1878906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360"/>
              </a:lnSpc>
              <a:spcBef>
                <a:spcPct val="0"/>
              </a:spcBef>
            </a:pPr>
            <a:r>
              <a:rPr lang="he-IL" sz="2100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סטטוס המודלים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75" y="15561206"/>
            <a:ext cx="7607449" cy="124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6"/>
              </a:lnSpc>
            </a:pPr>
            <a:r>
              <a:rPr lang="he-IL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בדיפולט, אנחנו מחברים אתכם ל-</a:t>
            </a:r>
            <a:r>
              <a:rPr lang="en-US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 model / roo model</a:t>
            </a:r>
            <a:r>
              <a:rPr lang="ar-EG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</a:t>
            </a:r>
          </a:p>
          <a:p>
            <a:pPr algn="ctr" rtl="true">
              <a:lnSpc>
                <a:spcPts val="2496"/>
              </a:lnSpc>
            </a:pPr>
            <a:r>
              <a:rPr lang="he-IL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שזה פשוט המודל הכי טוב, שזמין לשימוש באותו הרגע.</a:t>
            </a:r>
          </a:p>
          <a:p>
            <a:pPr algn="ctr" rtl="true">
              <a:lnSpc>
                <a:spcPts val="2496"/>
              </a:lnSpc>
            </a:pPr>
            <a:r>
              <a:rPr lang="he-IL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במידה ורוצים לעבוד על מודל ספציפי, ותוהים מה הסטטוס שלו: המהירות שלו, למעלה / למטה...</a:t>
            </a:r>
          </a:p>
          <a:p>
            <a:pPr algn="ctr" rtl="true">
              <a:lnSpc>
                <a:spcPts val="2496"/>
              </a:lnSpc>
              <a:spcBef>
                <a:spcPct val="0"/>
              </a:spcBef>
            </a:pPr>
            <a:r>
              <a:rPr lang="he-IL" sz="156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העמוד הבא בשבילכם: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2366" y="11906250"/>
            <a:ext cx="292544" cy="292544"/>
          </a:xfrm>
          <a:custGeom>
            <a:avLst/>
            <a:gdLst/>
            <a:ahLst/>
            <a:cxnLst/>
            <a:rect r="r" b="b" t="t" l="l"/>
            <a:pathLst>
              <a:path h="292544" w="292544">
                <a:moveTo>
                  <a:pt x="0" y="0"/>
                </a:moveTo>
                <a:lnTo>
                  <a:pt x="292543" y="0"/>
                </a:lnTo>
                <a:lnTo>
                  <a:pt x="292543" y="292544"/>
                </a:lnTo>
                <a:lnTo>
                  <a:pt x="0" y="292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28" y="12573064"/>
            <a:ext cx="7593354" cy="3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1"/>
              </a:lnSpc>
              <a:spcBef>
                <a:spcPct val="0"/>
              </a:spcBef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לאחר ההתקנה, נפתח את הסביבות </a:t>
            </a:r>
            <a:r>
              <a:rPr lang="he-IL" sz="1557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על התיקייה שעליה נרצה לעבוד</a:t>
            </a:r>
            <a:r>
              <a:rPr lang="ar-EG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30523" y="12988349"/>
            <a:ext cx="390338" cy="390338"/>
          </a:xfrm>
          <a:custGeom>
            <a:avLst/>
            <a:gdLst/>
            <a:ahLst/>
            <a:cxnLst/>
            <a:rect r="r" b="b" t="t" l="l"/>
            <a:pathLst>
              <a:path h="390338" w="390338">
                <a:moveTo>
                  <a:pt x="0" y="0"/>
                </a:moveTo>
                <a:lnTo>
                  <a:pt x="390338" y="0"/>
                </a:lnTo>
                <a:lnTo>
                  <a:pt x="390338" y="390338"/>
                </a:lnTo>
                <a:lnTo>
                  <a:pt x="0" y="390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2431" y="12958421"/>
            <a:ext cx="494134" cy="450194"/>
          </a:xfrm>
          <a:custGeom>
            <a:avLst/>
            <a:gdLst/>
            <a:ahLst/>
            <a:cxnLst/>
            <a:rect r="r" b="b" t="t" l="l"/>
            <a:pathLst>
              <a:path h="450194" w="494134">
                <a:moveTo>
                  <a:pt x="0" y="0"/>
                </a:moveTo>
                <a:lnTo>
                  <a:pt x="494134" y="0"/>
                </a:lnTo>
                <a:lnTo>
                  <a:pt x="494134" y="450194"/>
                </a:lnTo>
                <a:lnTo>
                  <a:pt x="0" y="450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016" r="-255891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3944887" y="13478514"/>
            <a:ext cx="0" cy="1599506"/>
          </a:xfrm>
          <a:prstGeom prst="line">
            <a:avLst/>
          </a:prstGeom>
          <a:ln cap="flat" w="19050">
            <a:solidFill>
              <a:srgbClr val="A84B0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534769" y="12563876"/>
            <a:ext cx="385742" cy="386367"/>
            <a:chOff x="0" y="0"/>
            <a:chExt cx="137407" cy="1376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37407" cy="204305"/>
            </a:xfrm>
            <a:prstGeom prst="rect">
              <a:avLst/>
            </a:prstGeom>
          </p:spPr>
          <p:txBody>
            <a:bodyPr anchor="ctr" rtlCol="false" tIns="50706" lIns="50706" bIns="50706" rIns="50706"/>
            <a:lstStyle/>
            <a:p>
              <a:pPr algn="ctr">
                <a:lnSpc>
                  <a:spcPts val="2575"/>
                </a:lnSpc>
              </a:pPr>
              <a:r>
                <a:rPr lang="en-US" sz="160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44388" y="15306197"/>
            <a:ext cx="385742" cy="386367"/>
            <a:chOff x="0" y="0"/>
            <a:chExt cx="137407" cy="1376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7407" cy="204305"/>
            </a:xfrm>
            <a:prstGeom prst="rect">
              <a:avLst/>
            </a:prstGeom>
          </p:spPr>
          <p:txBody>
            <a:bodyPr anchor="ctr" rtlCol="false" tIns="50706" lIns="50706" bIns="50706" rIns="50706"/>
            <a:lstStyle/>
            <a:p>
              <a:pPr algn="ctr">
                <a:lnSpc>
                  <a:spcPts val="2575"/>
                </a:lnSpc>
              </a:pPr>
              <a:r>
                <a:rPr lang="en-US" sz="160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86824" y="15912907"/>
            <a:ext cx="385742" cy="386367"/>
            <a:chOff x="0" y="0"/>
            <a:chExt cx="137407" cy="137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7407" cy="204305"/>
            </a:xfrm>
            <a:prstGeom prst="rect">
              <a:avLst/>
            </a:prstGeom>
          </p:spPr>
          <p:txBody>
            <a:bodyPr anchor="ctr" rtlCol="false" tIns="50706" lIns="50706" bIns="50706" rIns="50706"/>
            <a:lstStyle/>
            <a:p>
              <a:pPr algn="ctr">
                <a:lnSpc>
                  <a:spcPts val="2575"/>
                </a:lnSpc>
              </a:pPr>
              <a:r>
                <a:rPr lang="en-US" sz="160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3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611445" y="16335360"/>
            <a:ext cx="390338" cy="390338"/>
          </a:xfrm>
          <a:custGeom>
            <a:avLst/>
            <a:gdLst/>
            <a:ahLst/>
            <a:cxnLst/>
            <a:rect r="r" b="b" t="t" l="l"/>
            <a:pathLst>
              <a:path h="390338" w="390338">
                <a:moveTo>
                  <a:pt x="0" y="0"/>
                </a:moveTo>
                <a:lnTo>
                  <a:pt x="390338" y="0"/>
                </a:lnTo>
                <a:lnTo>
                  <a:pt x="390338" y="390338"/>
                </a:lnTo>
                <a:lnTo>
                  <a:pt x="0" y="390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23352" y="16305432"/>
            <a:ext cx="494134" cy="450194"/>
          </a:xfrm>
          <a:custGeom>
            <a:avLst/>
            <a:gdLst/>
            <a:ahLst/>
            <a:cxnLst/>
            <a:rect r="r" b="b" t="t" l="l"/>
            <a:pathLst>
              <a:path h="450194" w="494134">
                <a:moveTo>
                  <a:pt x="0" y="0"/>
                </a:moveTo>
                <a:lnTo>
                  <a:pt x="494135" y="0"/>
                </a:lnTo>
                <a:lnTo>
                  <a:pt x="494135" y="450194"/>
                </a:lnTo>
                <a:lnTo>
                  <a:pt x="0" y="450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016" r="-255891" b="0"/>
            </a:stretch>
          </a:blipFill>
        </p:spPr>
      </p:sp>
      <p:sp>
        <p:nvSpPr>
          <p:cNvPr name="AutoShape 18" id="18"/>
          <p:cNvSpPr/>
          <p:nvPr/>
        </p:nvSpPr>
        <p:spPr>
          <a:xfrm flipV="true">
            <a:off x="3802941" y="16825525"/>
            <a:ext cx="0" cy="1599506"/>
          </a:xfrm>
          <a:prstGeom prst="line">
            <a:avLst/>
          </a:prstGeom>
          <a:ln cap="flat" w="19050">
            <a:solidFill>
              <a:srgbClr val="A84B0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6904981" y="18645375"/>
            <a:ext cx="385742" cy="386367"/>
            <a:chOff x="0" y="0"/>
            <a:chExt cx="137407" cy="1376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7407" cy="204305"/>
            </a:xfrm>
            <a:prstGeom prst="rect">
              <a:avLst/>
            </a:prstGeom>
          </p:spPr>
          <p:txBody>
            <a:bodyPr anchor="ctr" rtlCol="false" tIns="50706" lIns="50706" bIns="50706" rIns="50706"/>
            <a:lstStyle/>
            <a:p>
              <a:pPr algn="ctr">
                <a:lnSpc>
                  <a:spcPts val="2575"/>
                </a:lnSpc>
              </a:pPr>
              <a:r>
                <a:rPr lang="en-US" sz="160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19968454"/>
            <a:ext cx="7605882" cy="626957"/>
            <a:chOff x="0" y="0"/>
            <a:chExt cx="2709333" cy="2233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09333" cy="223332"/>
            </a:xfrm>
            <a:custGeom>
              <a:avLst/>
              <a:gdLst/>
              <a:ahLst/>
              <a:cxnLst/>
              <a:rect r="r" b="b" t="t" l="l"/>
              <a:pathLst>
                <a:path h="223332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23332"/>
                  </a:lnTo>
                  <a:lnTo>
                    <a:pt x="0" y="223332"/>
                  </a:lnTo>
                  <a:close/>
                </a:path>
              </a:pathLst>
            </a:custGeom>
            <a:solidFill>
              <a:srgbClr val="A84B0F">
                <a:alpha val="23922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2709333" cy="290007"/>
            </a:xfrm>
            <a:prstGeom prst="rect">
              <a:avLst/>
            </a:prstGeom>
          </p:spPr>
          <p:txBody>
            <a:bodyPr anchor="ctr" rtlCol="false" tIns="50706" lIns="50706" bIns="50706" rIns="50706"/>
            <a:lstStyle/>
            <a:p>
              <a:pPr algn="ctr">
                <a:lnSpc>
                  <a:spcPts val="257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384909" y="11966673"/>
            <a:ext cx="2836063" cy="38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353"/>
              </a:lnSpc>
              <a:spcBef>
                <a:spcPct val="0"/>
              </a:spcBef>
            </a:pPr>
            <a:r>
              <a:rPr lang="he-IL" sz="2096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נעבור ל-</a:t>
            </a:r>
            <a:r>
              <a:rPr lang="en-US" sz="2096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</a:rPr>
              <a:t>Claude Code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10024" y="13361070"/>
            <a:ext cx="3431337" cy="3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1"/>
              </a:lnSpc>
              <a:spcBef>
                <a:spcPct val="0"/>
              </a:spcBef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נלחץ על האייקון של קלוד בצד ימין למעלה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1925" y="13361070"/>
            <a:ext cx="3431337" cy="3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1"/>
              </a:lnSpc>
              <a:spcBef>
                <a:spcPct val="0"/>
              </a:spcBef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נכתוב </a:t>
            </a:r>
            <a:r>
              <a:rPr lang="en-US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</a:t>
            </a: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ונעשה </a:t>
            </a:r>
            <a:r>
              <a:rPr lang="en-US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enter</a:t>
            </a: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כשמבקש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0024" y="14697249"/>
            <a:ext cx="3431337" cy="3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1"/>
              </a:lnSpc>
              <a:spcBef>
                <a:spcPct val="0"/>
              </a:spcBef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במידה ולא נמצא, נתקין מה-</a:t>
            </a:r>
            <a:r>
              <a:rPr lang="en-US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extensions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6046" y="15315343"/>
            <a:ext cx="5703036" cy="30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88"/>
              </a:lnSpc>
              <a:spcBef>
                <a:spcPct val="0"/>
              </a:spcBef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נשלח “</a:t>
            </a:r>
            <a:r>
              <a:rPr lang="en-US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Hello</a:t>
            </a: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” ונראה שההתקנה צלחה ואנחנו מקבלים מענה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0197" y="15944543"/>
            <a:ext cx="6717971" cy="30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88"/>
              </a:lnSpc>
              <a:spcBef>
                <a:spcPct val="0"/>
              </a:spcBef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נלמד איך מחליפים מודל. נעשה את זה כשהמודל איטי / לא נותן לנו מענה כמו שרצינו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944887" y="16793532"/>
            <a:ext cx="3553526" cy="144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1"/>
              </a:lnSpc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כאן ההחלפה של המודלים פחות נוחה, וזה דורש החלפה ידנית ב-</a:t>
            </a:r>
            <a:r>
              <a:rPr lang="en-US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extension settings</a:t>
            </a:r>
            <a:r>
              <a:rPr lang="ar-EG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.</a:t>
            </a:r>
          </a:p>
          <a:p>
            <a:pPr algn="ctr" rtl="true">
              <a:lnSpc>
                <a:spcPts val="1597"/>
              </a:lnSpc>
            </a:pPr>
          </a:p>
          <a:p>
            <a:pPr algn="ctr" rtl="true">
              <a:lnSpc>
                <a:spcPts val="2491"/>
              </a:lnSpc>
              <a:spcBef>
                <a:spcPct val="0"/>
              </a:spcBef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יש כל מיני שיטות עוקפות, מוזמנים להתנסות ולשתף אחד עם השני.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64" y="18686317"/>
            <a:ext cx="7613736" cy="249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88"/>
              </a:lnSpc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כמו שאמרנו מקודם, לכל כלי יש מנעד רחב של יכולות שחשוב להכיר ולהעמיק,</a:t>
            </a:r>
          </a:p>
          <a:p>
            <a:pPr algn="ctr" rtl="true">
              <a:lnSpc>
                <a:spcPts val="2488"/>
              </a:lnSpc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וספיצפית לקלוד קוד, שמאחוריו עומדת חברה ענקית כמו אנטרופיק ויש לכלי קהילה ענקית.</a:t>
            </a:r>
          </a:p>
          <a:p>
            <a:pPr algn="ctr" rtl="true">
              <a:lnSpc>
                <a:spcPts val="2488"/>
              </a:lnSpc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נדבר על כמה מהיכולות בשלבים הבאים, בינתיים נתחיל בהתחככות קצרה עם הכלי.</a:t>
            </a:r>
          </a:p>
          <a:p>
            <a:pPr algn="ctr" rtl="true">
              <a:lnSpc>
                <a:spcPts val="2488"/>
              </a:lnSpc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בחרו רכיב במערכת שאתם מכירים, ותדעו לאמת האם התשובה נכונה או לא. כתבו:</a:t>
            </a:r>
          </a:p>
          <a:p>
            <a:pPr algn="ctr">
              <a:lnSpc>
                <a:spcPts val="2488"/>
              </a:lnSpc>
            </a:pPr>
            <a:r>
              <a:rPr lang="en-US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“I’m new to this codebase, analyze @&lt;component_name&gt; and explain its purpose, internal logic, dependencies, and interactions with other components.”</a:t>
            </a:r>
          </a:p>
          <a:p>
            <a:pPr algn="ctr" rtl="true">
              <a:lnSpc>
                <a:spcPts val="2488"/>
              </a:lnSpc>
              <a:spcBef>
                <a:spcPct val="0"/>
              </a:spcBef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💡כשכותבים “@”, כתבו את שם הקובץ המדויק שעליו אתם מדברים ובחרו אותו, זה יימקד את המודל והוא לא יבזבז טוקנים על חיפוש של הקומפוננטה.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018" y="16793532"/>
            <a:ext cx="3655524" cy="1442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1"/>
              </a:lnSpc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מריצים: </a:t>
            </a:r>
            <a:r>
              <a:rPr lang="en-US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model {model-name}</a:t>
            </a:r>
            <a:r>
              <a:rPr lang="ar-EG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/</a:t>
            </a:r>
          </a:p>
          <a:p>
            <a:pPr algn="ctr" rtl="true">
              <a:lnSpc>
                <a:spcPts val="2491"/>
              </a:lnSpc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לדוגמה: </a:t>
            </a:r>
            <a:r>
              <a:rPr lang="en-US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model MiniMax-M2.5</a:t>
            </a:r>
          </a:p>
          <a:p>
            <a:pPr algn="ctr" rtl="true">
              <a:lnSpc>
                <a:spcPts val="1597"/>
              </a:lnSpc>
            </a:pPr>
          </a:p>
          <a:p>
            <a:pPr algn="ctr" rtl="true">
              <a:lnSpc>
                <a:spcPts val="2491"/>
              </a:lnSpc>
              <a:spcBef>
                <a:spcPct val="0"/>
              </a:spcBef>
            </a:pPr>
            <a:r>
              <a:rPr lang="he-IL" sz="155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את השמות המלאים ניתן להעתיק בקלות בדף הסטטוס מודלים.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5833865"/>
            <a:ext cx="7579255" cy="218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מודלי 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AI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</a:t>
            </a:r>
            <a:r>
              <a:rPr lang="he-IL" b="true" sz="1558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אומנו על האינטרנט ולא מכירים את הסביבה שלנו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ולכן משימות פשוטות (כמו התקנת חבילת פייתון מה-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Artifactory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במקום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PyPi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) עלולות להיות מורכבות עבורם ברשת שלנו.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כדי להתמודד עם זה, יוצרים </a:t>
            </a:r>
            <a:r>
              <a:rPr lang="en-US" b="true" sz="1558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skills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שכשמם, הם מיומנויות מתועדות שהכלי טוען לפי צורך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(בניגוד ל־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claude.md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שנלקח תמיד בחשבון).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לדוגמה: “איך לעשות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build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לפרויקט שלי?”, שיטות לח”ח שירוצו לפני שאני ניגשת לקוד...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skills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משלבים </a:t>
            </a:r>
            <a:r>
              <a:rPr lang="he-IL" b="true" sz="1558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ניסיון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בתחום מסוים, </a:t>
            </a:r>
            <a:r>
              <a:rPr lang="he-IL" b="true" sz="1558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וידע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ספציפי </a:t>
            </a:r>
            <a:r>
              <a:rPr lang="he-IL" b="true" sz="1558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לפרויקטים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. ניתן להיעזר באתרים כמו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skills.sh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ו-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skillsmp.com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אך רוב ה-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skills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ייכתבו על ידינו (או בעצם על ידי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לכתיבת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skills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148528" y="15437257"/>
            <a:ext cx="386458" cy="387084"/>
            <a:chOff x="0" y="0"/>
            <a:chExt cx="137407" cy="137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7407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6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47457" y="11906250"/>
            <a:ext cx="386458" cy="387084"/>
            <a:chOff x="0" y="0"/>
            <a:chExt cx="137407" cy="137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37407" cy="194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0"/>
                </a:lnSpc>
              </a:pPr>
              <a:r>
                <a:rPr lang="en-US" sz="1612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5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35198" y="11963400"/>
            <a:ext cx="4708858" cy="1369987"/>
          </a:xfrm>
          <a:custGeom>
            <a:avLst/>
            <a:gdLst/>
            <a:ahLst/>
            <a:cxnLst/>
            <a:rect r="r" b="b" t="t" l="l"/>
            <a:pathLst>
              <a:path h="1369987" w="4708858">
                <a:moveTo>
                  <a:pt x="0" y="0"/>
                </a:moveTo>
                <a:lnTo>
                  <a:pt x="4708858" y="0"/>
                </a:lnTo>
                <a:lnTo>
                  <a:pt x="4708858" y="1369987"/>
                </a:lnTo>
                <a:lnTo>
                  <a:pt x="0" y="1369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333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305" y="13361962"/>
            <a:ext cx="7464094" cy="187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3"/>
              </a:lnSpc>
            </a:pP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claude.md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הוא קובץ שמרכז מידע על הפרויקט, ונלקח בחשבון בכל שיחה עם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Claude Code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.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במידה ועובדים על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code base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ק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יים, ניתן להריץ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init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/ וליצור אותו אוטומטית מהקוד. חשוב לבדוק טוב את התוכן שג’ונרט - מידע לא מדויק יפגע באיכות התשובות בהמשך.</a:t>
            </a:r>
          </a:p>
          <a:p>
            <a:pPr algn="ctr" rtl="true">
              <a:lnSpc>
                <a:spcPts val="2493"/>
              </a:lnSpc>
            </a:pP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טיפים נוספים:</a:t>
            </a:r>
          </a:p>
          <a:p>
            <a:pPr algn="ctr" rtl="true">
              <a:lnSpc>
                <a:spcPts val="2493"/>
              </a:lnSpc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* שמרו על הקובץ מצומצם כדי לא לבזבז מקום ב-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context window</a:t>
            </a: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(נכלל בכל </a:t>
            </a:r>
            <a:r>
              <a:rPr lang="en-US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prompt</a:t>
            </a:r>
            <a:r>
              <a:rPr lang="ar-EG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)</a:t>
            </a:r>
          </a:p>
          <a:p>
            <a:pPr algn="ctr" rtl="true">
              <a:lnSpc>
                <a:spcPts val="2493"/>
              </a:lnSpc>
              <a:spcBef>
                <a:spcPct val="0"/>
              </a:spcBef>
            </a:pPr>
            <a:r>
              <a:rPr lang="he-IL" sz="1558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* שמים לב שאתם חוזרים על הנחייה מספר פעמים? תוסיפו אותה לקובץ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8871" y="11965091"/>
            <a:ext cx="5269428" cy="2100500"/>
            <a:chOff x="0" y="0"/>
            <a:chExt cx="1730932" cy="689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6873" cy="689984"/>
            </a:xfrm>
            <a:custGeom>
              <a:avLst/>
              <a:gdLst/>
              <a:ahLst/>
              <a:cxnLst/>
              <a:rect r="r" b="b" t="t" l="l"/>
              <a:pathLst>
                <a:path h="689984" w="1726873">
                  <a:moveTo>
                    <a:pt x="937986" y="0"/>
                  </a:moveTo>
                  <a:cubicBezTo>
                    <a:pt x="1054786" y="0"/>
                    <a:pt x="1140555" y="39980"/>
                    <a:pt x="1199207" y="86201"/>
                  </a:cubicBezTo>
                  <a:cubicBezTo>
                    <a:pt x="1305636" y="71961"/>
                    <a:pt x="1394908" y="76881"/>
                    <a:pt x="1466613" y="112311"/>
                  </a:cubicBezTo>
                  <a:cubicBezTo>
                    <a:pt x="1525297" y="141310"/>
                    <a:pt x="1551138" y="182642"/>
                    <a:pt x="1544639" y="224560"/>
                  </a:cubicBezTo>
                  <a:cubicBezTo>
                    <a:pt x="1678229" y="262650"/>
                    <a:pt x="1741421" y="333918"/>
                    <a:pt x="1724052" y="402350"/>
                  </a:cubicBezTo>
                  <a:cubicBezTo>
                    <a:pt x="1689357" y="478656"/>
                    <a:pt x="1515745" y="527703"/>
                    <a:pt x="1358775" y="515381"/>
                  </a:cubicBezTo>
                  <a:cubicBezTo>
                    <a:pt x="1313947" y="560705"/>
                    <a:pt x="1233236" y="596313"/>
                    <a:pt x="1130912" y="609764"/>
                  </a:cubicBezTo>
                  <a:cubicBezTo>
                    <a:pt x="994426" y="627702"/>
                    <a:pt x="857501" y="601285"/>
                    <a:pt x="776100" y="548050"/>
                  </a:cubicBezTo>
                  <a:lnTo>
                    <a:pt x="330162" y="689984"/>
                  </a:lnTo>
                  <a:cubicBezTo>
                    <a:pt x="398164" y="647688"/>
                    <a:pt x="465225" y="609764"/>
                    <a:pt x="485362" y="544082"/>
                  </a:cubicBezTo>
                  <a:cubicBezTo>
                    <a:pt x="429274" y="552671"/>
                    <a:pt x="364244" y="550273"/>
                    <a:pt x="303840" y="534822"/>
                  </a:cubicBezTo>
                  <a:cubicBezTo>
                    <a:pt x="197441" y="507606"/>
                    <a:pt x="150081" y="447748"/>
                    <a:pt x="165638" y="397182"/>
                  </a:cubicBezTo>
                  <a:cubicBezTo>
                    <a:pt x="105059" y="375789"/>
                    <a:pt x="0" y="344918"/>
                    <a:pt x="0" y="271847"/>
                  </a:cubicBezTo>
                  <a:cubicBezTo>
                    <a:pt x="0" y="204096"/>
                    <a:pt x="137568" y="152083"/>
                    <a:pt x="266731" y="153460"/>
                  </a:cubicBezTo>
                  <a:cubicBezTo>
                    <a:pt x="280704" y="125704"/>
                    <a:pt x="310814" y="100170"/>
                    <a:pt x="356158" y="81219"/>
                  </a:cubicBezTo>
                  <a:cubicBezTo>
                    <a:pt x="452339" y="41032"/>
                    <a:pt x="600293" y="47974"/>
                    <a:pt x="679813" y="82765"/>
                  </a:cubicBezTo>
                  <a:cubicBezTo>
                    <a:pt x="735358" y="31984"/>
                    <a:pt x="823833" y="0"/>
                    <a:pt x="937986" y="0"/>
                  </a:cubicBezTo>
                  <a:close/>
                </a:path>
              </a:pathLst>
            </a:custGeom>
            <a:solidFill>
              <a:srgbClr val="E46919">
                <a:alpha val="4078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22716" y="35254"/>
              <a:ext cx="1114837" cy="474393"/>
            </a:xfrm>
            <a:prstGeom prst="rect">
              <a:avLst/>
            </a:prstGeom>
          </p:spPr>
          <p:txBody>
            <a:bodyPr anchor="ctr" rtlCol="false" tIns="50691" lIns="50691" bIns="50691" rIns="50691"/>
            <a:lstStyle/>
            <a:p>
              <a:pPr algn="ctr">
                <a:lnSpc>
                  <a:spcPts val="25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62049" y="11906250"/>
            <a:ext cx="385625" cy="386250"/>
            <a:chOff x="0" y="0"/>
            <a:chExt cx="137407" cy="137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407" cy="137630"/>
            </a:xfrm>
            <a:custGeom>
              <a:avLst/>
              <a:gdLst/>
              <a:ahLst/>
              <a:cxnLst/>
              <a:rect r="r" b="b" t="t" l="l"/>
              <a:pathLst>
                <a:path h="137630" w="137407">
                  <a:moveTo>
                    <a:pt x="68704" y="0"/>
                  </a:moveTo>
                  <a:lnTo>
                    <a:pt x="68704" y="0"/>
                  </a:lnTo>
                  <a:cubicBezTo>
                    <a:pt x="106648" y="0"/>
                    <a:pt x="137407" y="30760"/>
                    <a:pt x="137407" y="68704"/>
                  </a:cubicBezTo>
                  <a:lnTo>
                    <a:pt x="137407" y="68926"/>
                  </a:lnTo>
                  <a:cubicBezTo>
                    <a:pt x="137407" y="87147"/>
                    <a:pt x="130169" y="104623"/>
                    <a:pt x="117285" y="117507"/>
                  </a:cubicBezTo>
                  <a:cubicBezTo>
                    <a:pt x="104400" y="130391"/>
                    <a:pt x="86925" y="137630"/>
                    <a:pt x="68704" y="137630"/>
                  </a:cubicBezTo>
                  <a:lnTo>
                    <a:pt x="68704" y="137630"/>
                  </a:lnTo>
                  <a:cubicBezTo>
                    <a:pt x="50482" y="137630"/>
                    <a:pt x="33007" y="130391"/>
                    <a:pt x="20123" y="117507"/>
                  </a:cubicBezTo>
                  <a:cubicBezTo>
                    <a:pt x="7238" y="104623"/>
                    <a:pt x="0" y="87147"/>
                    <a:pt x="0" y="68926"/>
                  </a:cubicBezTo>
                  <a:lnTo>
                    <a:pt x="0" y="68704"/>
                  </a:lnTo>
                  <a:cubicBezTo>
                    <a:pt x="0" y="50482"/>
                    <a:pt x="7238" y="33007"/>
                    <a:pt x="20123" y="20123"/>
                  </a:cubicBezTo>
                  <a:cubicBezTo>
                    <a:pt x="33007" y="7238"/>
                    <a:pt x="50482" y="0"/>
                    <a:pt x="68704" y="0"/>
                  </a:cubicBezTo>
                  <a:close/>
                </a:path>
              </a:pathLst>
            </a:custGeom>
            <a:solidFill>
              <a:srgbClr val="A84B0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7407" cy="204305"/>
            </a:xfrm>
            <a:prstGeom prst="rect">
              <a:avLst/>
            </a:prstGeom>
          </p:spPr>
          <p:txBody>
            <a:bodyPr anchor="ctr" rtlCol="false" tIns="50691" lIns="50691" bIns="50691" rIns="50691"/>
            <a:lstStyle/>
            <a:p>
              <a:pPr algn="ctr">
                <a:lnSpc>
                  <a:spcPts val="2574"/>
                </a:lnSpc>
              </a:pPr>
              <a:r>
                <a:rPr lang="en-US" sz="1609">
                  <a:solidFill>
                    <a:srgbClr val="FFFFFF"/>
                  </a:solidFill>
                  <a:latin typeface="Rubik One"/>
                  <a:ea typeface="Rubik One"/>
                  <a:cs typeface="Rubik One"/>
                  <a:sym typeface="Rubik One"/>
                </a:rPr>
                <a:t>7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4633" y="14488895"/>
            <a:ext cx="4986779" cy="387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352"/>
              </a:lnSpc>
              <a:spcBef>
                <a:spcPct val="0"/>
              </a:spcBef>
            </a:pPr>
            <a:r>
              <a:rPr lang="he-IL" sz="2095">
                <a:solidFill>
                  <a:srgbClr val="000000"/>
                </a:solidFill>
                <a:latin typeface="Rubik One"/>
                <a:ea typeface="Rubik One"/>
                <a:cs typeface="Rubik One"/>
                <a:sym typeface="Rubik One"/>
                <a:rtl val="true"/>
              </a:rPr>
              <a:t>איך מדברים איתנו? וכמה דברים נוספים😇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6199581"/>
            <a:ext cx="7591054" cy="61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0"/>
              </a:lnSpc>
            </a:pPr>
            <a:r>
              <a:rPr lang="he-IL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איבדתם 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את ה-</a:t>
            </a:r>
            <a:r>
              <a:rPr lang="en-US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API Key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שלכם? ביכולתכם לייצר אחד חדש באותו המקום של ההתקנה</a:t>
            </a:r>
          </a:p>
          <a:p>
            <a:pPr algn="ctr" rtl="true">
              <a:lnSpc>
                <a:spcPts val="2490"/>
              </a:lnSpc>
              <a:spcBef>
                <a:spcPct val="0"/>
              </a:spcBef>
            </a:pP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שימו ❤️ שזה מוחק את הקודם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22" y="18161026"/>
            <a:ext cx="7603578" cy="92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0"/>
              </a:lnSpc>
            </a:pP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מעוניינים להשתמש </a:t>
            </a:r>
            <a:r>
              <a:rPr lang="he-IL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במודלי ה-</a:t>
            </a:r>
            <a:r>
              <a:rPr lang="en-US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AI</a:t>
            </a:r>
            <a:r>
              <a:rPr lang="he-IL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 למערכת/אוטומציה</a:t>
            </a:r>
            <a:r>
              <a:rPr lang="ar-EG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?</a:t>
            </a:r>
          </a:p>
          <a:p>
            <a:pPr algn="ctr" rtl="true">
              <a:lnSpc>
                <a:spcPts val="2490"/>
              </a:lnSpc>
            </a:pP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פתחו בקשה ב-</a:t>
            </a:r>
            <a:r>
              <a:rPr lang="en-US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Servit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ותקבלו </a:t>
            </a:r>
            <a:r>
              <a:rPr lang="en-US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API Key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ייעודי</a:t>
            </a:r>
          </a:p>
          <a:p>
            <a:pPr algn="ctr" rtl="true">
              <a:lnSpc>
                <a:spcPts val="2490"/>
              </a:lnSpc>
              <a:spcBef>
                <a:spcPct val="0"/>
              </a:spcBef>
            </a:pP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ענן...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9" y="15218859"/>
            <a:ext cx="7605168" cy="61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0"/>
              </a:lnSpc>
            </a:pP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נתקלתם </a:t>
            </a:r>
            <a:r>
              <a:rPr lang="he-IL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בתקלה בהתקנה או בשימוש?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כתבו לנו ב-</a:t>
            </a:r>
            <a:r>
              <a:rPr lang="en-US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ServIT</a:t>
            </a:r>
          </a:p>
          <a:p>
            <a:pPr algn="ctr" rtl="true">
              <a:lnSpc>
                <a:spcPts val="2490"/>
              </a:lnSpc>
              <a:spcBef>
                <a:spcPct val="0"/>
              </a:spcBef>
            </a:pP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פתיחת תקלה &gt; </a:t>
            </a:r>
            <a:r>
              <a:rPr lang="en-US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AI&amp;MLOPS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&gt; הכלי שבו נתקלתם בתקלה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537" y="14274689"/>
            <a:ext cx="7582972" cy="5905607"/>
            <a:chOff x="0" y="0"/>
            <a:chExt cx="2701991" cy="21043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1991" cy="2104306"/>
            </a:xfrm>
            <a:custGeom>
              <a:avLst/>
              <a:gdLst/>
              <a:ahLst/>
              <a:cxnLst/>
              <a:rect r="r" b="b" t="t" l="l"/>
              <a:pathLst>
                <a:path h="2104306" w="2701991">
                  <a:moveTo>
                    <a:pt x="38797" y="0"/>
                  </a:moveTo>
                  <a:lnTo>
                    <a:pt x="2663195" y="0"/>
                  </a:lnTo>
                  <a:cubicBezTo>
                    <a:pt x="2673484" y="0"/>
                    <a:pt x="2683352" y="4087"/>
                    <a:pt x="2690628" y="11363"/>
                  </a:cubicBezTo>
                  <a:cubicBezTo>
                    <a:pt x="2697904" y="18639"/>
                    <a:pt x="2701991" y="28507"/>
                    <a:pt x="2701991" y="38797"/>
                  </a:cubicBezTo>
                  <a:lnTo>
                    <a:pt x="2701991" y="2065510"/>
                  </a:lnTo>
                  <a:cubicBezTo>
                    <a:pt x="2701991" y="2086937"/>
                    <a:pt x="2684621" y="2104306"/>
                    <a:pt x="2663195" y="2104306"/>
                  </a:cubicBezTo>
                  <a:lnTo>
                    <a:pt x="38797" y="2104306"/>
                  </a:lnTo>
                  <a:cubicBezTo>
                    <a:pt x="17370" y="2104306"/>
                    <a:pt x="0" y="2086937"/>
                    <a:pt x="0" y="2065510"/>
                  </a:cubicBezTo>
                  <a:lnTo>
                    <a:pt x="0" y="38797"/>
                  </a:lnTo>
                  <a:cubicBezTo>
                    <a:pt x="0" y="17370"/>
                    <a:pt x="17370" y="0"/>
                    <a:pt x="38797" y="0"/>
                  </a:cubicBezTo>
                  <a:close/>
                </a:path>
              </a:pathLst>
            </a:custGeom>
            <a:ln w="19050" cap="rnd">
              <a:solidFill>
                <a:srgbClr val="E46919"/>
              </a:solidFill>
              <a:prstDash val="dash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701991" cy="2170981"/>
            </a:xfrm>
            <a:prstGeom prst="rect">
              <a:avLst/>
            </a:prstGeom>
          </p:spPr>
          <p:txBody>
            <a:bodyPr anchor="ctr" rtlCol="false" tIns="50691" lIns="50691" bIns="50691" rIns="50691"/>
            <a:lstStyle/>
            <a:p>
              <a:pPr algn="ctr">
                <a:lnSpc>
                  <a:spcPts val="25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725" y="19308170"/>
            <a:ext cx="7582972" cy="1516146"/>
            <a:chOff x="0" y="0"/>
            <a:chExt cx="2701991" cy="5402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01991" cy="540238"/>
            </a:xfrm>
            <a:custGeom>
              <a:avLst/>
              <a:gdLst/>
              <a:ahLst/>
              <a:cxnLst/>
              <a:rect r="r" b="b" t="t" l="l"/>
              <a:pathLst>
                <a:path h="540238" w="2701991">
                  <a:moveTo>
                    <a:pt x="38797" y="0"/>
                  </a:moveTo>
                  <a:lnTo>
                    <a:pt x="2663195" y="0"/>
                  </a:lnTo>
                  <a:cubicBezTo>
                    <a:pt x="2673484" y="0"/>
                    <a:pt x="2683352" y="4087"/>
                    <a:pt x="2690628" y="11363"/>
                  </a:cubicBezTo>
                  <a:cubicBezTo>
                    <a:pt x="2697904" y="18639"/>
                    <a:pt x="2701991" y="28507"/>
                    <a:pt x="2701991" y="38797"/>
                  </a:cubicBezTo>
                  <a:lnTo>
                    <a:pt x="2701991" y="501442"/>
                  </a:lnTo>
                  <a:cubicBezTo>
                    <a:pt x="2701991" y="522869"/>
                    <a:pt x="2684621" y="540238"/>
                    <a:pt x="2663195" y="540238"/>
                  </a:cubicBezTo>
                  <a:lnTo>
                    <a:pt x="38797" y="540238"/>
                  </a:lnTo>
                  <a:cubicBezTo>
                    <a:pt x="17370" y="540238"/>
                    <a:pt x="0" y="522869"/>
                    <a:pt x="0" y="501442"/>
                  </a:cubicBezTo>
                  <a:lnTo>
                    <a:pt x="0" y="38797"/>
                  </a:lnTo>
                  <a:cubicBezTo>
                    <a:pt x="0" y="17370"/>
                    <a:pt x="17370" y="0"/>
                    <a:pt x="38797" y="0"/>
                  </a:cubicBezTo>
                  <a:close/>
                </a:path>
              </a:pathLst>
            </a:custGeom>
            <a:solidFill>
              <a:srgbClr val="A84B0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701991" cy="606913"/>
            </a:xfrm>
            <a:prstGeom prst="rect">
              <a:avLst/>
            </a:prstGeom>
          </p:spPr>
          <p:txBody>
            <a:bodyPr anchor="ctr" rtlCol="false" tIns="50691" lIns="50691" bIns="50691" rIns="50691"/>
            <a:lstStyle/>
            <a:p>
              <a:pPr algn="ctr">
                <a:lnSpc>
                  <a:spcPts val="257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92401" y="19393464"/>
            <a:ext cx="6631243" cy="89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667"/>
              </a:lnSpc>
            </a:pPr>
            <a:r>
              <a:rPr lang="he-IL" sz="2095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לכל בקשה לפיצ’ר / התייעצות </a:t>
            </a:r>
            <a:r>
              <a:rPr lang="en-US" sz="2095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AI</a:t>
            </a:r>
            <a:r>
              <a:rPr lang="he-IL" sz="2095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/ בקשה להטמעה</a:t>
            </a:r>
          </a:p>
          <a:p>
            <a:pPr algn="ctr" rtl="true">
              <a:lnSpc>
                <a:spcPts val="3667"/>
              </a:lnSpc>
            </a:pPr>
            <a:r>
              <a:rPr lang="he-IL" sz="2095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מוזמנים לפנות </a:t>
            </a:r>
            <a:r>
              <a:rPr lang="he-IL" b="true" sz="2095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לשירה מדר - פרודקט כלי ה-</a:t>
            </a:r>
            <a:r>
              <a:rPr lang="en-US" b="true" sz="2095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114" y="17180304"/>
            <a:ext cx="7562195" cy="61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90"/>
              </a:lnSpc>
              <a:spcBef>
                <a:spcPct val="0"/>
              </a:spcBef>
            </a:pP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ב-</a:t>
            </a:r>
            <a:r>
              <a:rPr lang="en-US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19/03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קיימנו </a:t>
            </a:r>
            <a:r>
              <a:rPr lang="en-US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AI DAY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מה-</a:t>
            </a:r>
            <a:r>
              <a:rPr lang="en-US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ZOOM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רוב התכנים </a:t>
            </a:r>
            <a:r>
              <a:rPr lang="he-IL" b="true" sz="1556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  <a:rtl val="true"/>
              </a:rPr>
              <a:t>הוקלטו ובקונפלואנס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. היום שימש כיישור קו ובסיס משותף, והחל מעכשיו </a:t>
            </a:r>
            <a:r>
              <a:rPr lang="he-IL" sz="1556" u="sng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התכנים ימשיכו לרמה מתקדמת יותר</a:t>
            </a:r>
            <a:r>
              <a:rPr lang="he-IL" sz="155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, ממליצים להשלים🚀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114" y="12425419"/>
            <a:ext cx="4058958" cy="92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88"/>
              </a:lnSpc>
              <a:spcBef>
                <a:spcPct val="0"/>
              </a:spcBef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חיברנו לכם אוטומטית </a:t>
            </a:r>
            <a:r>
              <a:rPr lang="en-US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Souf-Marketplace</a:t>
            </a: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שיחזיק בכל הידע שצריך להכיר כדי להתנהל ברשת. המדורים הרלוונטיים יוסיפו לשם </a:t>
            </a:r>
            <a:r>
              <a:rPr lang="en-US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skills</a:t>
            </a: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 בהדרגה.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88015" y="12282851"/>
            <a:ext cx="2859659" cy="155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488"/>
              </a:lnSpc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יש עוד המון להכיר על קלוד, מוזמנים לצפות בהדגמה שבקונפלואנס ולהמשיך להרחיב את הידע ולשתף בקונפלואנס ובקבוצת ווצאפ,</a:t>
            </a:r>
          </a:p>
          <a:p>
            <a:pPr algn="ctr" rtl="true">
              <a:lnSpc>
                <a:spcPts val="2488"/>
              </a:lnSpc>
              <a:spcBef>
                <a:spcPct val="0"/>
              </a:spcBef>
            </a:pPr>
            <a:r>
              <a:rPr lang="he-IL" sz="155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rtl val="true"/>
              </a:rPr>
              <a:t>ובהמשך באתר קרמל.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DAHFXij6qDQ</dc:identifier>
  <dcterms:modified xsi:type="dcterms:W3CDTF">2011-08-01T06:04:30Z</dcterms:modified>
  <cp:revision>1</cp:revision>
  <dc:title>AI Coding Assistants - Cut</dc:title>
</cp:coreProperties>
</file>